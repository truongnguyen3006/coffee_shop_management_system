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8"/>
  </p:notesMasterIdLst>
  <p:sldIdLst>
    <p:sldId id="256" r:id="rId2"/>
    <p:sldId id="296" r:id="rId3"/>
    <p:sldId id="259" r:id="rId4"/>
    <p:sldId id="270" r:id="rId5"/>
    <p:sldId id="271" r:id="rId6"/>
    <p:sldId id="289" r:id="rId7"/>
    <p:sldId id="290" r:id="rId8"/>
    <p:sldId id="291" r:id="rId9"/>
    <p:sldId id="281" r:id="rId10"/>
    <p:sldId id="275" r:id="rId11"/>
    <p:sldId id="276" r:id="rId12"/>
    <p:sldId id="277" r:id="rId13"/>
    <p:sldId id="279" r:id="rId14"/>
    <p:sldId id="280" r:id="rId15"/>
    <p:sldId id="282" r:id="rId16"/>
    <p:sldId id="285" r:id="rId17"/>
    <p:sldId id="286" r:id="rId18"/>
    <p:sldId id="297" r:id="rId19"/>
    <p:sldId id="295" r:id="rId20"/>
    <p:sldId id="294" r:id="rId21"/>
    <p:sldId id="298" r:id="rId22"/>
    <p:sldId id="299" r:id="rId23"/>
    <p:sldId id="300" r:id="rId24"/>
    <p:sldId id="293" r:id="rId25"/>
    <p:sldId id="292" r:id="rId26"/>
    <p:sldId id="261" r:id="rId27"/>
  </p:sldIdLst>
  <p:sldSz cx="12192000" cy="6858000"/>
  <p:notesSz cx="6858000" cy="9144000"/>
  <p:embeddedFontLst>
    <p:embeddedFont>
      <p:font typeface="Aileron" panose="020B0604020202020204" charset="0"/>
      <p:regular r:id="rId29"/>
    </p:embeddedFont>
    <p:embeddedFont>
      <p:font typeface="Aileron Bold" panose="020B0604020202020204" charset="0"/>
      <p:regular r:id="rId30"/>
    </p:embeddedFont>
    <p:embeddedFont>
      <p:font typeface="Barlow" panose="00000500000000000000" pitchFamily="2" charset="0"/>
      <p:regular r:id="rId31"/>
      <p:bold r:id="rId32"/>
      <p:italic r:id="rId33"/>
      <p:boldItalic r:id="rId34"/>
    </p:embeddedFont>
    <p:embeddedFont>
      <p:font typeface="K2D" panose="020B0604020202020204" charset="-34"/>
      <p:regular r:id="rId35"/>
      <p:bold r:id="rId36"/>
      <p:italic r:id="rId37"/>
      <p:boldItalic r:id="rId38"/>
    </p:embeddedFont>
    <p:embeddedFont>
      <p:font typeface="Readex Pro" panose="020B0604020202020204" charset="-78"/>
      <p:regular r:id="rId39"/>
      <p:bold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uyễn Lâm Trường - B2204976" initials="TN" lastIdx="3" clrIdx="0">
    <p:extLst>
      <p:ext uri="{19B8F6BF-5375-455C-9EA6-DF929625EA0E}">
        <p15:presenceInfo xmlns:p15="http://schemas.microsoft.com/office/powerpoint/2012/main" userId="S::truongB2204976@student.ctu.edu.vn::b5af9817-4d49-440b-94c3-5fb8d9a03ee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00AFEF"/>
    <a:srgbClr val="FFFFFF"/>
    <a:srgbClr val="1F5CAA"/>
    <a:srgbClr val="27ACE3"/>
    <a:srgbClr val="1F5CA9"/>
    <a:srgbClr val="F2F2F2"/>
    <a:srgbClr val="000000"/>
    <a:srgbClr val="D9D9D9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196" autoAdjust="0"/>
  </p:normalViewPr>
  <p:slideViewPr>
    <p:cSldViewPr snapToGrid="0">
      <p:cViewPr varScale="1">
        <p:scale>
          <a:sx n="85" d="100"/>
          <a:sy n="85" d="100"/>
        </p:scale>
        <p:origin x="547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D77E9-6EA6-4CD0-83E1-511940CECC44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6AF59-AF08-453C-9159-D5F243F86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29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61D4A3-C96E-946C-BF56-14B0317E483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F1CC2D-4F33-60C3-D015-EE4B3346464B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542C0C7-F574-E38A-4EB3-08F7967A5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9D78DE-4DE3-2990-85E4-786FD52314B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8D337-520D-D86F-59BE-49A69B9FFC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74FC1A-E55F-C03B-647D-62C9D227489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F77203-FB16-225E-E2AD-E6F5BFB29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32108-B491-0ED9-0209-DCDB4B87944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E3B44A9-629A-9AFC-6A18-1288714D7213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47E8952C-C96D-E1CF-68EF-C321F558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43BEA4F-EC22-DCD8-2D07-6E96C6A7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FF9A2-77A5-DDEE-8CD5-81FBB071FF6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E020D5-F981-3E97-FE5E-ADF3F5D5D67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6F97B9-1D92-F527-C77C-03A8413842F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61B76C-9BE8-353C-CE4F-D68CC621DEA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53315-09D7-5756-C6C6-55FFDDCFE13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A79C1E-4CE5-9C79-D05A-E661FD9C1020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7A207F-A3E9-4918-9A39-6AFD5C75AE2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41CAD55-C718-D746-6C4B-AC27D7F9E3C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2AF38-7C96-9660-E7DF-32022B5040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98B8E65-85EA-EDA7-0D26-FAB09CE5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6AC2544-66BB-6379-48DA-83F16247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497A08-099F-1B3E-194B-4232B1D060A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DEB5E8B-9D80-CFB1-EDED-87ECE2CB2B8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6291E-292F-647B-E93F-CCF3BD97EF4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B7700C-E55C-27FB-89BF-E9B044E9EC3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9A2E08-C471-6D85-4D71-8B7583F204F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8275F7-17A7-2357-D01F-B5A5E3884CF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7A3534-0713-475D-C6A5-307770CE20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EB70784-4611-F5A4-7D58-DD378AF3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7628174-E628-DF34-7A10-83FDFC5D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C110D58-C7C9-AD78-555F-33E02058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1B152-BF7B-A150-5A99-2B451EC38D4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59768-9879-1B7A-B5FA-0DCEFE74D51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889155-4A4A-8DED-164F-8A56C00B8F9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096035-4D5E-EF98-4374-6099861A66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792706-2488-D26C-C54B-F6881C86D05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36761B-1C8C-2A9C-97D2-FD722A844AE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BA4366D-2C0B-5E27-DC28-A877427191A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538E5B-E5A0-69DD-94F0-C506BC4743B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09C7B13-13FD-9548-48BE-5821DF0A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283063C-B225-E607-FC11-4C67B227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269295-E313-A799-7125-41D39E39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4B895D-114D-C9C2-A547-220F39E95B3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1B30F-7B6D-78FB-BD6E-E34AD607BE5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7F6DF5-10A9-DC42-E1E9-D1FA91D6BB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959BFF-8A0A-B338-A74E-37D7F5CED4D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E9E1AD-2113-53D7-8783-10A60D93296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1424EB-91CE-59BF-400F-9BCF3A182E6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99800F-88A1-1EF2-673A-E19EDD4D12A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FA7C85-7A63-3F94-A6E0-51FBFB0A62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9E5B1EA-BE1C-22C4-8140-1FF7F085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3F5244F-399D-4048-0258-1C4D4345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73B34E-C5A1-D7E2-C692-BFBE5EBD6A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CFE12-2689-2DB3-6CB8-E6D662CAE88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B0CF2-5878-8045-7665-76673B4F71AB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C447DE-39C2-0CF7-466F-6F936D0397D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B166D7-5532-DFCC-4719-A557C504B8F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618045-F14E-9F31-0FA0-0532F46BF46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F28839-2BBD-09C4-84D8-C7BD82D44B5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CD9E80B-3CE1-773E-29BB-8B95E6D4543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A3E05-765A-20DC-76C7-1BB18527C0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2971456-C6D4-0F38-6B9E-1F35DDA6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720CF9-36DD-EAE0-4DFF-B34E1D72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666FBEF-96D4-A728-F979-1B9E3C58461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8E8DD-CE54-0055-2BF7-151D57DF8BD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2301E-8D74-6168-3E37-23F22C232E8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16EF-BF90-0E2D-8C37-9F7F65B32C5A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C6974A-DD6E-7CB5-8FD4-600450267DC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196367-A723-A537-EB98-81ACB69748F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66BEA6-14C4-AF23-E4A2-9D451D536F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8362F22-F1FE-F284-D164-71325E2FE29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2A85AC-B7B7-482A-12B3-980D59815F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F6D7656-F800-D94D-225F-EDD31055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4C748E-C498-F3D1-FA1A-8DE0452D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9D97C13-D91F-4682-B432-81FF1B14B49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84DFD5-27A7-C363-7007-2DC193A3EAF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6999E-E9FF-973E-7101-9B1C4199764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6026A7-B4F0-EAA7-6E24-26FFBCA763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F0E9D6-6802-7688-2B57-6C08D5DA59C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658449-E3D8-FD81-A0DE-693514AECD3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B45509-564D-FF36-7D23-E19C5706B85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34F2291-6314-C1AD-04AC-4C2F36AFBCE5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D81222-A6F3-0F0F-54F8-3440A58FEE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5F7985F-5BDC-B2DF-EE61-A86912B6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3C7577-EE0C-2234-C1BF-DA9C643E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5DA46C-D8B6-7CFC-66B8-7CB0661BDC5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0D40A-2E3B-C7A9-C896-AB297CD1D502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772D73-D33F-3CF1-F2EC-3AB49AB0A3E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B7BB71-C74C-F574-53FD-686AF1FFDDB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F3CACD-6A80-FFA4-A1A8-D43F712955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AEB09F-CD5E-7ADC-1B2F-8965E3D7128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F64E0D-6262-6968-C324-91B0C29DAE2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6ACF565-7282-52D8-2F87-9979EB7D22E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EB52C3-46A3-8597-EB48-A059B972B6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417CD2D-3662-2AA5-03DA-B7DB71FD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76764BE-F724-71A0-BE05-2D8CD35F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B4C324-3C81-EE05-863B-0BFD10068AD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2863-B89C-435F-F151-714E85DDC0D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858D0-591A-DB7C-B0CF-EC5885EF6AA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B9E2AA-8C7B-B434-371B-D07F8E42BC7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048CFE-B19B-7653-369A-1274DDC6A67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B54DA6-059E-42E3-D2C2-7CC236D17F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78C257-C905-714F-8D36-7C4FEA7B101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171E3B6-9344-8EA5-ECCC-B4E2DB489CB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4D2815-B553-E7E3-A420-642D631F85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43C1B86-79CD-A2B3-901F-0E811E86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1990695-EF78-6AB0-E960-0608F2EF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F876A1-6B11-6FF8-2D84-015F96056B1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A6408-9D66-09C4-41AB-00CC1729D3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0018DF-49AD-91F7-0DB0-C9BC1261979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0C13370-E7EC-678E-BD5A-DB77AAE1330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E15444-C65B-BCB2-0C08-2D44E08572B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101A3-77ED-E52F-5EB8-690B6987C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794B63-DFC9-1FBB-688F-B4BDE18353A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970B167-68C8-83AC-0439-E32E52CA290E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2CD55A-1C1C-F2FF-326E-E4EDF096096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106D705-167D-4957-B052-389F58C3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B50CB5C-9421-8092-B746-31E9C2FB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8885C0-D685-8BA1-0334-F39B9B68D71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DF714-887C-B1B4-0544-F3318FB936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B2670-DCDB-9912-43A9-DB6F7732594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719D13-9667-D80B-8E63-2EAE238785E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5820E4-D785-554F-4A26-439F94DC39C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173FE2-FAF0-8CC7-CB52-0A02CAB31B9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C9A41C-6FE6-99FD-63A0-4F13214472F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E355810-09A4-7711-CAE0-3B52F9B0F7A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FD61F0-56D5-64BF-42C1-A40A09A1EC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D9E8BE1-8359-B3EB-76B9-E21898BB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8313AA7-7AE7-BBBB-D161-E7992A58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9BD5AE-860A-11DA-EDCF-22268C7C9A8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50682-E7A5-4FC0-F3BE-BB9A232438A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D63CC-5B2D-403A-2D8D-77E5D2B6108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5D36C9-D247-9D20-3BF2-F3349DFE29E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3E65D7-4824-ED09-532B-9FC7698CEF8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6AB20A-6E3F-4D3A-66A0-FB26AD4A104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847801-603B-FBC5-F985-AE9459E3CD4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8F14B01-E23B-BFC7-B317-7E21D60D518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56432E-6829-4DE3-60A2-6B8BBDC6B4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87C7D7A-D6B4-F348-B4E4-CA33AB53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9648BD2-EBDF-9F5F-296A-DFCA3F0B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1D2F5E-B4B4-4F13-5B40-6B34D4077BF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8C786-22D7-B802-E1CD-F76CACF14CC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7DAB2-9527-687A-8677-8F0D90CD784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F80466-9EFF-A73A-B6DE-D269BCE066A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3337E1-C74F-3AB9-3062-C33D866163B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12D348-DF45-A829-E72D-196DEC172D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8F8196-C024-0B7C-46F7-739B24E5DB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860906-4DB7-35A0-12A0-880FE34D0611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D6CDF9-3E97-FB61-7CE7-3D09FA86D7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218C02C-39DB-9A5F-95CB-0C3CAB08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4506B3F-1DF2-A2B1-B917-52BD9BA9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7B2114-05AD-5B46-042A-74C2E1E114D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12D61D-E589-A35B-EEF9-9C42ABC105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A589A6-0D91-BA6C-6308-33240D74B74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0B255F-3EA0-6316-1814-EA69B3A1C94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9C3888-223C-A47F-802D-E01AE026158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AFDAA6-E7FA-2A32-DFA6-F90442ED860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DC1B11-CA57-3325-DD06-C67EE58D7FC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8C3C485-7E6C-D1B8-B245-95DB0F954A97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1F8E9-DA5B-DA41-D6FB-62DFDED23A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1B773FC-C6DB-8895-F8FB-AC357B5F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ED3E9AD-AE54-8D77-117E-98F95DCE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85175A-A5CA-FDCD-9D1E-D1E3A5C0861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2AE3C-B845-C37F-3FA3-517EBBCCD80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3C2B34-BC37-24CD-CCCC-86C84255F60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A51EC-EB1C-A2F5-191D-39EC3871D7F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16B55C-8A59-6B1B-682C-62AA2B73A47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C2AAA9-0C7E-3269-988C-8B585C6196A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2758D9-75FB-A297-C9B0-0046880A09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0FD0A9-AA5C-7D0D-4E1D-5CCB189D948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2D20B6-C339-D112-86D5-A51948B07F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D1D37C2-EC33-4641-5CD8-DBFCCC5A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F9D2D5D-F42C-AD89-38B2-8E5862B8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43EC71-5B9E-C0BC-1876-C8F7F39BC54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374B3-12AF-4FD8-DEB7-27010168D05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A7498-F3BC-86B3-1A69-799334B6D0C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C85D92-154D-811A-7CED-746E05BC99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FF18A3-B64B-560A-0E4C-FAE23671DD1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087580-3DBD-8257-F1D1-7914462F84C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924CB2-D38F-D098-BA0D-F7AF3FD0DAE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944464-246D-1746-8383-CA6C986DD6C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B468E-C03F-EA5D-3562-3CF0D836AD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DB08078-B43B-9900-A614-EDD1B70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53B98CF-4D09-7334-F10E-AC294939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E9D4A31-78FB-C50E-E557-1D6A2AB1B39D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E77047-2D78-10EA-8B2B-464D363FDA7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0BADC-EE2D-7AA3-FE84-68EB6BD21EC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3A035-1495-F2B0-9581-76B6F74E68E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B4826-5D0F-51B0-8FB3-AF794F93FD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DA189B-1ADB-AEB4-5954-98C27419F04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D18312-4501-E052-78A4-D56485FF5E5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BFB8709-60EF-0C2D-7AE6-97383C28A99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513177-236E-9D57-556A-25BA2A08A56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B60C45-18AD-EA2E-F8C7-09BC10A7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6116A22-46CD-EA17-0317-B3A75C35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CD306E5-CFB4-AF8E-362E-7264A2EE8FC3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40D7E-4410-6230-80DF-9F48DDD5A2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1A584-94A8-DB0F-72C3-58733380A87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63D15-A7C4-C136-3C34-D85D43DF91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A5ACA2-579F-CD83-86DA-E253A52172C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5BCA61-C1DF-F935-9A58-6E188F2CB05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8E80D1-1F87-F099-C499-A6D08F0D1B7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7DD4F89-FFA6-2586-6CFF-BAD9CA9BBED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ADDEC2-86AA-36BA-1460-FC4BE106E1D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0BAA20-270C-6BB8-126D-274EA4BC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3DB167-B4F8-7DE2-3FE9-16BA7DFC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AAABEF-0466-E8D9-7159-4498725EB23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B4BC4-A4A2-B7AE-36B8-5F8601CBD24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324B4-3F68-C3A0-CCD5-76223DA4437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AF8661-5038-9FE1-BBA8-946867DADAB0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383C5A-EDBD-9F53-185B-2E7B394F345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A2C68B-0393-7A63-49AA-3FFE7FE14C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CA16E1-AF2D-D0AA-1F01-070BA884ACD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BCC7B34-3035-0952-6B45-935B76D988E3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7B063C-9DEE-224B-8FD3-B578122F70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004C0A-B376-851D-1C1F-61573C0B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D28DB7B-FFF4-7151-C18D-3C7D5D9D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A7CBBB-5BEC-4156-BB0B-762A1656305F}"/>
              </a:ext>
            </a:extLst>
          </p:cNvPr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E0175B-DA75-48B5-9D9D-69732B703EF5}"/>
              </a:ext>
            </a:extLst>
          </p:cNvPr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ADB430-7D50-4978-89C8-6C6EBBB3035E}"/>
                </a:ext>
              </a:extLst>
            </p:cNvPr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>
              <a:extLst>
                <a:ext uri="{FF2B5EF4-FFF2-40B4-BE49-F238E27FC236}">
                  <a16:creationId xmlns:a16="http://schemas.microsoft.com/office/drawing/2014/main" id="{7688F936-0D30-441F-BBA9-66AE32197B6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pPr/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F36C960-0DDB-40F7-96C6-0E5E092E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EB56B231-F846-4811-B632-4AB4BAA9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250632-77FB-405A-BBE8-9981579CE7EF}"/>
              </a:ext>
            </a:extLst>
          </p:cNvPr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F06559-0D08-475B-BB2B-C2AD79E1EA9A}"/>
              </a:ext>
            </a:extLst>
          </p:cNvPr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A2DBFB6-FB51-4349-AD79-DB5E3B289A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741078-A544-42D3-8CE7-5F2F115BABE0}"/>
              </a:ext>
            </a:extLst>
          </p:cNvPr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69E2A5B-C398-3A54-39BB-1A10AD77A4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40C400F-3AEE-5C28-4A10-78CBA14078B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A79BBA-69C1-570D-F28E-9BB9C6ACBEC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30C32-8749-8F9D-AFB9-200DC55D9965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36664E3-F587-5BFA-8277-C0DDF1B0FB4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36890-856E-2F7B-8E55-A33B790D7C1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B2CBB7-80CC-0503-06CA-B293272E754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49DC9B-DB28-1334-ACD6-A7837974CC5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896B089-ECA6-A22E-B1B3-DEA30DA3A29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CA8C4BA-A884-9E59-FFE3-0B919D00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9B8DE1D-7394-99A3-7495-C14CDDA1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6F8249F-933F-27B4-037F-1BE57AC729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D8527-F93B-EB58-7740-2C078C40D09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B52FF-C488-9746-1718-20EBF7C6F69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F8AA-07ED-7376-C0C8-2331E007AE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98A477-5FFB-8A7A-8F05-0A80F04AEFB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725ED5-67ED-5B9A-3DCA-1DE0F4C5834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9266B7-33A3-424D-B662-BE0A9937A84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86A9F9-4156-B900-5857-6016C3E85FAB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0D5907-9052-863A-8BCC-EF17800E64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F2144C9-292D-3866-E801-4F565FEE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BEA6383-5223-C237-6EF3-C8B51BE5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005A496-97A9-F2E6-5A93-82ED2999180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E9CB3-D945-22DB-F3B1-01E643966ACF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D6A3BA-05EA-D4A6-D520-6A0BBE9ACFC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1D0D4-C58F-2943-9F96-7367FEA221D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313E83-E883-5D3C-7410-B094E1918C1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148F3C-F670-4585-6238-F7F73412182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5B6593-3DAF-E642-22A3-B33B2E999E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612E298-D721-FB54-E8B1-308FB365446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DE4871-7678-DA84-8689-2F27B59205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13E948E-49EF-8C4E-0898-E98F72B6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5A65652-1FC1-56DE-41BF-70B7E317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F5E8B0A-35A9-1D4F-DB19-BE07791E78F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E1F6B-3A1F-F4AA-B616-B69C903A909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17A55-6967-1E8F-7303-5303CBD602A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4F218F-2B5C-5125-3565-DD9470D6775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F21373-8291-8606-349F-C9D37F7F42EA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90A1A8-07D6-CC23-110F-A4349C95D83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B2C4FA-6364-1259-35B8-B7538FBAB89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98D622-19A9-9C4F-D8B3-A0B8BACFDA9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19E43-BFD6-BAEA-5172-CB6E311691D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6DB862-383E-AC4E-53C8-05578489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1406AB-9157-BB66-317E-91FF6676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E6F05EB3-1A18-FFAB-87F4-C3B6F94C3D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EFF8FA1-B5A4-2A75-DF61-6155775A60B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8A97E-3A14-7BF0-D186-C53734F2598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894450-A56F-CB14-56CE-6BAB4A469F5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EDC2765-72E6-0900-A64B-07D9394DE1E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72BBAE-9F84-4D92-5FC5-6BAC2EBBA3A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8EF8C-2CE8-32A2-4893-8A1F462F59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64073C-92F4-B219-BB9F-D220B1F1317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CDC2B2F-DD31-C057-140F-8607950C122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D099AF-ADE0-F209-43E6-00047303FC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9D6B138-607A-1698-333D-31B07D85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4/19/2025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C58AAA-3CCF-ABE2-A4E2-6851325D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>
            <a:extLst>
              <a:ext uri="{FF2B5EF4-FFF2-40B4-BE49-F238E27FC236}">
                <a16:creationId xmlns:a16="http://schemas.microsoft.com/office/drawing/2014/main" id="{2E6D52DE-4D97-3181-9440-19E31A6CE8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88786B7F-DEAA-9BB7-8BD3-B3780EB61B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5E41-A1AF-488B-B0BD-65F8B7FDA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144" y="1676537"/>
            <a:ext cx="11205713" cy="66325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K2D" panose="020B0604020202020204" charset="-34"/>
                <a:cs typeface="K2D" panose="020B0604020202020204" charset="-34"/>
              </a:rPr>
              <a:t>Trường</a:t>
            </a:r>
            <a:r>
              <a:rPr lang="en-US" sz="3200" dirty="0"/>
              <a:t> </a:t>
            </a:r>
            <a:r>
              <a:rPr lang="en-US" sz="3200" dirty="0" err="1"/>
              <a:t>Đại</a:t>
            </a:r>
            <a:r>
              <a:rPr lang="en-US" sz="3200" dirty="0"/>
              <a:t> Học </a:t>
            </a:r>
            <a:r>
              <a:rPr lang="en-US" sz="3200" dirty="0" err="1"/>
              <a:t>Cần</a:t>
            </a:r>
            <a:r>
              <a:rPr lang="en-US" sz="3200" dirty="0"/>
              <a:t> Thơ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537F2-C3B5-487E-AF04-318467A15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2959" y="2358476"/>
            <a:ext cx="11205713" cy="57374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Readex Pro" panose="020B0604020202020204" charset="-78"/>
                <a:cs typeface="Readex Pro" panose="020B0604020202020204" charset="-78"/>
              </a:rPr>
              <a:t>Trường</a:t>
            </a:r>
            <a:r>
              <a:rPr lang="en-US" sz="2800" dirty="0"/>
              <a:t> </a:t>
            </a:r>
            <a:r>
              <a:rPr lang="en-US" sz="2800" dirty="0" err="1"/>
              <a:t>công</a:t>
            </a:r>
            <a:r>
              <a:rPr lang="en-US" sz="2800" dirty="0"/>
              <a:t> </a:t>
            </a:r>
            <a:r>
              <a:rPr lang="en-US" sz="2800" dirty="0" err="1"/>
              <a:t>nghệ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tin &amp; </a:t>
            </a:r>
            <a:r>
              <a:rPr lang="en-US" sz="2800" dirty="0" err="1"/>
              <a:t>truyền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7A67E-F5E5-4E62-AFA1-B5747C25AE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960" y="2745864"/>
            <a:ext cx="11205713" cy="492125"/>
          </a:xfrm>
        </p:spPr>
        <p:txBody>
          <a:bodyPr/>
          <a:lstStyle/>
          <a:p>
            <a:r>
              <a:rPr lang="en-US" sz="2400" dirty="0"/>
              <a:t>Khoa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Mạng</a:t>
            </a:r>
            <a:r>
              <a:rPr lang="en-US" sz="2400" dirty="0"/>
              <a:t> </a:t>
            </a:r>
            <a:r>
              <a:rPr lang="en-US" sz="2400" dirty="0" err="1"/>
              <a:t>máy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&amp; </a:t>
            </a:r>
            <a:r>
              <a:rPr lang="en-US" sz="2400" dirty="0" err="1"/>
              <a:t>truyền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E37B2-DA7B-136B-08CE-B1D23A170A1B}"/>
              </a:ext>
            </a:extLst>
          </p:cNvPr>
          <p:cNvSpPr txBox="1"/>
          <p:nvPr/>
        </p:nvSpPr>
        <p:spPr>
          <a:xfrm>
            <a:off x="2904649" y="3484606"/>
            <a:ext cx="6472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Readex Pro" panose="020B0604020202020204" charset="-78"/>
                <a:cs typeface="Readex Pro" panose="020B0604020202020204" charset="-78"/>
              </a:rPr>
              <a:t>THIẾT KẾ VÀ PHÁT TRIỂN </a:t>
            </a:r>
          </a:p>
          <a:p>
            <a:pPr algn="ctr"/>
            <a:r>
              <a:rPr lang="en-US" sz="2400" dirty="0">
                <a:solidFill>
                  <a:srgbClr val="FFFFFF"/>
                </a:solidFill>
                <a:latin typeface="Readex Pro" panose="020B0604020202020204" charset="-78"/>
                <a:cs typeface="Readex Pro" panose="020B0604020202020204" charset="-78"/>
              </a:rPr>
              <a:t>HỆ THỐNG DESKTOP </a:t>
            </a:r>
          </a:p>
          <a:p>
            <a:pPr algn="ctr"/>
            <a:r>
              <a:rPr lang="en-US" sz="2400" dirty="0">
                <a:solidFill>
                  <a:srgbClr val="FFFFFF"/>
                </a:solidFill>
                <a:latin typeface="Readex Pro" panose="020B0604020202020204" charset="-78"/>
                <a:cs typeface="Readex Pro" panose="020B0604020202020204" charset="-78"/>
              </a:rPr>
              <a:t>QUẢN LÝ KINH DOANH QUÁN CÀ PHÊ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ACA44A-F41F-6CFA-08ED-48333A03D89F}"/>
              </a:ext>
            </a:extLst>
          </p:cNvPr>
          <p:cNvSpPr txBox="1"/>
          <p:nvPr/>
        </p:nvSpPr>
        <p:spPr>
          <a:xfrm>
            <a:off x="493144" y="5080611"/>
            <a:ext cx="2752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Giáo</a:t>
            </a:r>
            <a:r>
              <a:rPr lang="en-US" dirty="0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 Viên </a:t>
            </a:r>
            <a:r>
              <a:rPr lang="en-US" dirty="0" err="1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Hướng</a:t>
            </a:r>
            <a:r>
              <a:rPr lang="en-US" dirty="0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Dẫn</a:t>
            </a:r>
            <a:r>
              <a:rPr lang="en-US" dirty="0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TS. GVC. Ngô Bá Hùng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533F27-6965-A5DC-1616-A829BCB3D826}"/>
              </a:ext>
            </a:extLst>
          </p:cNvPr>
          <p:cNvSpPr txBox="1"/>
          <p:nvPr/>
        </p:nvSpPr>
        <p:spPr>
          <a:xfrm>
            <a:off x="8220718" y="5080611"/>
            <a:ext cx="3567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Sinh </a:t>
            </a:r>
            <a:r>
              <a:rPr lang="en-US" dirty="0" err="1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viên</a:t>
            </a:r>
            <a:r>
              <a:rPr lang="en-US" dirty="0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: Nguyễn Lâm Trường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Mã</a:t>
            </a:r>
            <a:r>
              <a:rPr lang="en-US" dirty="0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số</a:t>
            </a:r>
            <a:r>
              <a:rPr lang="en-US" dirty="0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: B2204976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78F79C-D3D8-FB34-2D26-2D4183E2A604}"/>
              </a:ext>
            </a:extLst>
          </p:cNvPr>
          <p:cNvSpPr txBox="1"/>
          <p:nvPr/>
        </p:nvSpPr>
        <p:spPr>
          <a:xfrm>
            <a:off x="4217915" y="5898776"/>
            <a:ext cx="3756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Cần</a:t>
            </a:r>
            <a:r>
              <a:rPr lang="en-US" dirty="0">
                <a:solidFill>
                  <a:schemeClr val="bg1"/>
                </a:solidFill>
              </a:rPr>
              <a:t> Thơ, </a:t>
            </a:r>
            <a:r>
              <a:rPr lang="en-US" dirty="0" err="1">
                <a:solidFill>
                  <a:schemeClr val="bg1"/>
                </a:solidFill>
              </a:rPr>
              <a:t>ngày</a:t>
            </a:r>
            <a:r>
              <a:rPr lang="en-US" dirty="0">
                <a:solidFill>
                  <a:schemeClr val="bg1"/>
                </a:solidFill>
              </a:rPr>
              <a:t> 19 </a:t>
            </a:r>
            <a:r>
              <a:rPr lang="en-US" dirty="0" err="1">
                <a:solidFill>
                  <a:schemeClr val="bg1"/>
                </a:solidFill>
              </a:rPr>
              <a:t>tháng</a:t>
            </a:r>
            <a:r>
              <a:rPr lang="en-US" dirty="0">
                <a:solidFill>
                  <a:schemeClr val="bg1"/>
                </a:solidFill>
              </a:rPr>
              <a:t> 04 </a:t>
            </a:r>
            <a:r>
              <a:rPr lang="en-US" dirty="0" err="1">
                <a:solidFill>
                  <a:schemeClr val="bg1"/>
                </a:solidFill>
              </a:rPr>
              <a:t>năm</a:t>
            </a:r>
            <a:r>
              <a:rPr lang="en-US" dirty="0">
                <a:solidFill>
                  <a:schemeClr val="bg1"/>
                </a:solidFill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52087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B1B75-0E1F-54FA-4D99-AB70BB6DE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itle 308">
            <a:extLst>
              <a:ext uri="{FF2B5EF4-FFF2-40B4-BE49-F238E27FC236}">
                <a16:creationId xmlns:a16="http://schemas.microsoft.com/office/drawing/2014/main" id="{5266A741-4B47-A625-9511-F4DB24238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C9671AEC-64C1-CA0D-BCFB-095B24B9AA86}"/>
              </a:ext>
            </a:extLst>
          </p:cNvPr>
          <p:cNvGrpSpPr/>
          <p:nvPr/>
        </p:nvGrpSpPr>
        <p:grpSpPr>
          <a:xfrm>
            <a:off x="4445195" y="253465"/>
            <a:ext cx="7133245" cy="606541"/>
            <a:chOff x="0" y="0"/>
            <a:chExt cx="2836643" cy="241200"/>
          </a:xfrm>
        </p:grpSpPr>
        <p:sp>
          <p:nvSpPr>
            <p:cNvPr id="311" name="Freeform 4">
              <a:extLst>
                <a:ext uri="{FF2B5EF4-FFF2-40B4-BE49-F238E27FC236}">
                  <a16:creationId xmlns:a16="http://schemas.microsoft.com/office/drawing/2014/main" id="{88F4BA1A-81CA-C5B1-A0F7-2F9B9FBF109B}"/>
                </a:ext>
              </a:extLst>
            </p:cNvPr>
            <p:cNvSpPr/>
            <p:nvPr/>
          </p:nvSpPr>
          <p:spPr>
            <a:xfrm>
              <a:off x="0" y="0"/>
              <a:ext cx="2836643" cy="241200"/>
            </a:xfrm>
            <a:custGeom>
              <a:avLst/>
              <a:gdLst/>
              <a:ahLst/>
              <a:cxnLst/>
              <a:rect l="l" t="t" r="r" b="b"/>
              <a:pathLst>
                <a:path w="2836643" h="241200">
                  <a:moveTo>
                    <a:pt x="0" y="0"/>
                  </a:moveTo>
                  <a:lnTo>
                    <a:pt x="2836643" y="0"/>
                  </a:lnTo>
                  <a:lnTo>
                    <a:pt x="2836643" y="241200"/>
                  </a:lnTo>
                  <a:lnTo>
                    <a:pt x="0" y="241200"/>
                  </a:lnTo>
                  <a:close/>
                </a:path>
              </a:pathLst>
            </a:custGeom>
            <a:solidFill>
              <a:srgbClr val="78DDE4"/>
            </a:solidFill>
          </p:spPr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7C524BFD-52E1-B208-5C0A-ED44B805B7C0}"/>
                </a:ext>
              </a:extLst>
            </p:cNvPr>
            <p:cNvSpPr txBox="1"/>
            <p:nvPr/>
          </p:nvSpPr>
          <p:spPr>
            <a:xfrm>
              <a:off x="0" y="-9525"/>
              <a:ext cx="2836643" cy="250725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 dirty="0">
                  <a:solidFill>
                    <a:srgbClr val="FFFFFF"/>
                  </a:solidFill>
                  <a:latin typeface="Readex Pro" panose="020B0604020202020204" charset="-78"/>
                  <a:ea typeface="Aileron Bold"/>
                  <a:cs typeface="Readex Pro" panose="020B0604020202020204" charset="-78"/>
                  <a:sym typeface="Aileron Bold"/>
                </a:rPr>
                <a:t>                    GIỚI THIỆU ĐỀ TÀI</a:t>
              </a:r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8A59AC19-735C-80C8-712E-15D5D41E8A6C}"/>
              </a:ext>
            </a:extLst>
          </p:cNvPr>
          <p:cNvGrpSpPr/>
          <p:nvPr/>
        </p:nvGrpSpPr>
        <p:grpSpPr>
          <a:xfrm>
            <a:off x="4744897" y="348437"/>
            <a:ext cx="416598" cy="416598"/>
            <a:chOff x="0" y="0"/>
            <a:chExt cx="812800" cy="812800"/>
          </a:xfrm>
        </p:grpSpPr>
        <p:sp>
          <p:nvSpPr>
            <p:cNvPr id="314" name="Freeform 7">
              <a:extLst>
                <a:ext uri="{FF2B5EF4-FFF2-40B4-BE49-F238E27FC236}">
                  <a16:creationId xmlns:a16="http://schemas.microsoft.com/office/drawing/2014/main" id="{9B861422-A3E7-9CB1-EA79-EA6C9C205A9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0C10277A-900C-A92F-637B-BA30CB86C37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27"/>
                </a:lnSpc>
              </a:pPr>
              <a:r>
                <a:rPr lang="en-US" sz="1733" b="1">
                  <a:solidFill>
                    <a:srgbClr val="78DDE4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</a:t>
              </a:r>
            </a:p>
          </p:txBody>
        </p:sp>
      </p:grpSp>
      <p:sp>
        <p:nvSpPr>
          <p:cNvPr id="316" name="TextBox 315">
            <a:extLst>
              <a:ext uri="{FF2B5EF4-FFF2-40B4-BE49-F238E27FC236}">
                <a16:creationId xmlns:a16="http://schemas.microsoft.com/office/drawing/2014/main" id="{5551129A-38E9-D02C-B76A-F08045114B7B}"/>
              </a:ext>
            </a:extLst>
          </p:cNvPr>
          <p:cNvSpPr txBox="1"/>
          <p:nvPr/>
        </p:nvSpPr>
        <p:spPr>
          <a:xfrm>
            <a:off x="147033" y="2421925"/>
            <a:ext cx="4009332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Readex Pro" panose="020B0604020202020204" charset="-78"/>
                <a:cs typeface="Readex Pro" panose="020B0604020202020204" charset="-78"/>
              </a:rPr>
              <a:t>HỆ THỐNG QUẢN LÝ KINH DOANH QUÁN CÀ PHÊ</a:t>
            </a:r>
          </a:p>
        </p:txBody>
      </p: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CA3EBD37-E180-D1C3-90FC-48189AF50E7F}"/>
              </a:ext>
            </a:extLst>
          </p:cNvPr>
          <p:cNvGrpSpPr/>
          <p:nvPr/>
        </p:nvGrpSpPr>
        <p:grpSpPr>
          <a:xfrm>
            <a:off x="4445195" y="860006"/>
            <a:ext cx="7133245" cy="614576"/>
            <a:chOff x="0" y="0"/>
            <a:chExt cx="2836643" cy="244396"/>
          </a:xfrm>
        </p:grpSpPr>
        <p:sp>
          <p:nvSpPr>
            <p:cNvPr id="318" name="Freeform 11">
              <a:extLst>
                <a:ext uri="{FF2B5EF4-FFF2-40B4-BE49-F238E27FC236}">
                  <a16:creationId xmlns:a16="http://schemas.microsoft.com/office/drawing/2014/main" id="{432919BE-10A5-9F7C-AB19-2719F3D15C27}"/>
                </a:ext>
              </a:extLst>
            </p:cNvPr>
            <p:cNvSpPr/>
            <p:nvPr/>
          </p:nvSpPr>
          <p:spPr>
            <a:xfrm>
              <a:off x="0" y="0"/>
              <a:ext cx="2836643" cy="244396"/>
            </a:xfrm>
            <a:custGeom>
              <a:avLst/>
              <a:gdLst/>
              <a:ahLst/>
              <a:cxnLst/>
              <a:rect l="l" t="t" r="r" b="b"/>
              <a:pathLst>
                <a:path w="2836643" h="244396">
                  <a:moveTo>
                    <a:pt x="0" y="0"/>
                  </a:moveTo>
                  <a:lnTo>
                    <a:pt x="2836643" y="0"/>
                  </a:lnTo>
                  <a:lnTo>
                    <a:pt x="2836643" y="244396"/>
                  </a:lnTo>
                  <a:lnTo>
                    <a:pt x="0" y="244396"/>
                  </a:lnTo>
                  <a:close/>
                </a:path>
              </a:pathLst>
            </a:custGeom>
            <a:solidFill>
              <a:srgbClr val="36D1D6"/>
            </a:solidFill>
          </p:spPr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15C3CD96-DE9C-6E0F-0F2F-06165194BA83}"/>
                </a:ext>
              </a:extLst>
            </p:cNvPr>
            <p:cNvSpPr txBox="1"/>
            <p:nvPr/>
          </p:nvSpPr>
          <p:spPr>
            <a:xfrm>
              <a:off x="0" y="-9525"/>
              <a:ext cx="2836643" cy="253921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>
                  <a:solidFill>
                    <a:srgbClr val="FFFFFF"/>
                  </a:solidFill>
                  <a:latin typeface="Readex Pro" panose="020B0604020202020204" charset="-78"/>
                  <a:ea typeface="Aileron Bold"/>
                  <a:cs typeface="Readex Pro" panose="020B0604020202020204" charset="-78"/>
                  <a:sym typeface="Aileron Bold"/>
                </a:rPr>
                <a:t>                    MỤC TIÊU ĐỀ TÀI</a:t>
              </a:r>
            </a:p>
          </p:txBody>
        </p: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07478A86-56FC-873E-BA91-7107A48AABB1}"/>
              </a:ext>
            </a:extLst>
          </p:cNvPr>
          <p:cNvGrpSpPr/>
          <p:nvPr/>
        </p:nvGrpSpPr>
        <p:grpSpPr>
          <a:xfrm>
            <a:off x="4744897" y="958996"/>
            <a:ext cx="416598" cy="416598"/>
            <a:chOff x="0" y="0"/>
            <a:chExt cx="812800" cy="812800"/>
          </a:xfrm>
        </p:grpSpPr>
        <p:sp>
          <p:nvSpPr>
            <p:cNvPr id="321" name="Freeform 14">
              <a:extLst>
                <a:ext uri="{FF2B5EF4-FFF2-40B4-BE49-F238E27FC236}">
                  <a16:creationId xmlns:a16="http://schemas.microsoft.com/office/drawing/2014/main" id="{8B152E57-6E45-C107-C59B-A2F5F81E041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90EA3383-E13A-691D-7A5B-5AF0271861B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27"/>
                </a:lnSpc>
              </a:pPr>
              <a:r>
                <a:rPr lang="en-US" sz="1733" b="1">
                  <a:solidFill>
                    <a:srgbClr val="36D1D6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</a:t>
              </a:r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4D23AF23-D9F6-99C8-EF52-A5AF4CA7DA0D}"/>
              </a:ext>
            </a:extLst>
          </p:cNvPr>
          <p:cNvGrpSpPr/>
          <p:nvPr/>
        </p:nvGrpSpPr>
        <p:grpSpPr>
          <a:xfrm>
            <a:off x="4445195" y="1487283"/>
            <a:ext cx="7133245" cy="579012"/>
            <a:chOff x="0" y="0"/>
            <a:chExt cx="2836643" cy="230253"/>
          </a:xfrm>
        </p:grpSpPr>
        <p:sp>
          <p:nvSpPr>
            <p:cNvPr id="324" name="Freeform 17">
              <a:extLst>
                <a:ext uri="{FF2B5EF4-FFF2-40B4-BE49-F238E27FC236}">
                  <a16:creationId xmlns:a16="http://schemas.microsoft.com/office/drawing/2014/main" id="{385EBEA5-8822-F977-ED3C-801AF83977CD}"/>
                </a:ext>
              </a:extLst>
            </p:cNvPr>
            <p:cNvSpPr/>
            <p:nvPr/>
          </p:nvSpPr>
          <p:spPr>
            <a:xfrm>
              <a:off x="0" y="0"/>
              <a:ext cx="2836643" cy="230253"/>
            </a:xfrm>
            <a:custGeom>
              <a:avLst/>
              <a:gdLst/>
              <a:ahLst/>
              <a:cxnLst/>
              <a:rect l="l" t="t" r="r" b="b"/>
              <a:pathLst>
                <a:path w="2836643" h="230253">
                  <a:moveTo>
                    <a:pt x="0" y="0"/>
                  </a:moveTo>
                  <a:lnTo>
                    <a:pt x="2836643" y="0"/>
                  </a:lnTo>
                  <a:lnTo>
                    <a:pt x="2836643" y="230253"/>
                  </a:lnTo>
                  <a:lnTo>
                    <a:pt x="0" y="230253"/>
                  </a:ln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1962E0D7-DD68-31B9-BC41-82497D368EB5}"/>
                </a:ext>
              </a:extLst>
            </p:cNvPr>
            <p:cNvSpPr txBox="1"/>
            <p:nvPr/>
          </p:nvSpPr>
          <p:spPr>
            <a:xfrm>
              <a:off x="0" y="-9525"/>
              <a:ext cx="2836643" cy="239778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>
                  <a:solidFill>
                    <a:srgbClr val="FFFFFF"/>
                  </a:solidFill>
                  <a:latin typeface="Readex Pro" panose="020B0604020202020204" charset="-78"/>
                  <a:ea typeface="Aileron Bold"/>
                  <a:cs typeface="Readex Pro" panose="020B0604020202020204" charset="-78"/>
                  <a:sym typeface="Aileron Bold"/>
                </a:rPr>
                <a:t>                    NỘI DUNG NGHIÊN CỨU</a:t>
              </a: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AE4CDB3A-DE3E-F178-9ABC-92A212C07674}"/>
              </a:ext>
            </a:extLst>
          </p:cNvPr>
          <p:cNvGrpSpPr/>
          <p:nvPr/>
        </p:nvGrpSpPr>
        <p:grpSpPr>
          <a:xfrm>
            <a:off x="4744897" y="1568490"/>
            <a:ext cx="416598" cy="416598"/>
            <a:chOff x="0" y="0"/>
            <a:chExt cx="812800" cy="812800"/>
          </a:xfrm>
        </p:grpSpPr>
        <p:sp>
          <p:nvSpPr>
            <p:cNvPr id="327" name="Freeform 20">
              <a:extLst>
                <a:ext uri="{FF2B5EF4-FFF2-40B4-BE49-F238E27FC236}">
                  <a16:creationId xmlns:a16="http://schemas.microsoft.com/office/drawing/2014/main" id="{7595FA08-6E90-F503-AFD2-157424B9E1A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9998F8A0-4404-53C6-1E6E-AEF7B851DCD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27"/>
                </a:lnSpc>
              </a:pPr>
              <a:r>
                <a:rPr lang="en-US" sz="1733" b="1">
                  <a:solidFill>
                    <a:srgbClr val="37C9E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</a:t>
              </a:r>
            </a:p>
          </p:txBody>
        </p:sp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3F66B41A-CD4C-B481-3B8F-9AB30505C37C}"/>
              </a:ext>
            </a:extLst>
          </p:cNvPr>
          <p:cNvGrpSpPr/>
          <p:nvPr/>
        </p:nvGrpSpPr>
        <p:grpSpPr>
          <a:xfrm>
            <a:off x="4445195" y="2078995"/>
            <a:ext cx="7133245" cy="584434"/>
            <a:chOff x="0" y="0"/>
            <a:chExt cx="2836643" cy="232409"/>
          </a:xfrm>
        </p:grpSpPr>
        <p:sp>
          <p:nvSpPr>
            <p:cNvPr id="330" name="Freeform 23">
              <a:extLst>
                <a:ext uri="{FF2B5EF4-FFF2-40B4-BE49-F238E27FC236}">
                  <a16:creationId xmlns:a16="http://schemas.microsoft.com/office/drawing/2014/main" id="{C5DB6604-51CF-F658-7E61-8DD5C575D68A}"/>
                </a:ext>
              </a:extLst>
            </p:cNvPr>
            <p:cNvSpPr/>
            <p:nvPr/>
          </p:nvSpPr>
          <p:spPr>
            <a:xfrm>
              <a:off x="0" y="0"/>
              <a:ext cx="2836643" cy="232409"/>
            </a:xfrm>
            <a:custGeom>
              <a:avLst/>
              <a:gdLst/>
              <a:ahLst/>
              <a:cxnLst/>
              <a:rect l="l" t="t" r="r" b="b"/>
              <a:pathLst>
                <a:path w="2836643" h="232409">
                  <a:moveTo>
                    <a:pt x="0" y="0"/>
                  </a:moveTo>
                  <a:lnTo>
                    <a:pt x="2836643" y="0"/>
                  </a:lnTo>
                  <a:lnTo>
                    <a:pt x="2836643" y="232409"/>
                  </a:lnTo>
                  <a:lnTo>
                    <a:pt x="0" y="232409"/>
                  </a:ln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7B198C31-7302-F23E-9FB2-AEF38EECC81B}"/>
                </a:ext>
              </a:extLst>
            </p:cNvPr>
            <p:cNvSpPr txBox="1"/>
            <p:nvPr/>
          </p:nvSpPr>
          <p:spPr>
            <a:xfrm>
              <a:off x="0" y="-9525"/>
              <a:ext cx="2836643" cy="241934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>
                  <a:solidFill>
                    <a:srgbClr val="FFFFFF"/>
                  </a:solidFill>
                  <a:latin typeface="Readex Pro" panose="020B0604020202020204" charset="-78"/>
                  <a:ea typeface="Aileron Bold"/>
                  <a:cs typeface="Readex Pro" panose="020B0604020202020204" charset="-78"/>
                  <a:sym typeface="Aileron Bold"/>
                </a:rPr>
                <a:t>                    KIẾN TRÚC TỔNG THỂ HỆ THỐNG</a:t>
              </a:r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F5E30A87-6C41-0613-D384-10F84EC6E372}"/>
              </a:ext>
            </a:extLst>
          </p:cNvPr>
          <p:cNvGrpSpPr/>
          <p:nvPr/>
        </p:nvGrpSpPr>
        <p:grpSpPr>
          <a:xfrm>
            <a:off x="4744897" y="2180595"/>
            <a:ext cx="416598" cy="416598"/>
            <a:chOff x="0" y="0"/>
            <a:chExt cx="812800" cy="812800"/>
          </a:xfrm>
        </p:grpSpPr>
        <p:sp>
          <p:nvSpPr>
            <p:cNvPr id="333" name="Freeform 26">
              <a:extLst>
                <a:ext uri="{FF2B5EF4-FFF2-40B4-BE49-F238E27FC236}">
                  <a16:creationId xmlns:a16="http://schemas.microsoft.com/office/drawing/2014/main" id="{554A7217-4AF5-768D-332D-FB87FA550D5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E7C99F82-3083-3214-6DD9-25233B7FF2F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27"/>
                </a:lnSpc>
              </a:pPr>
              <a:r>
                <a:rPr lang="en-US" sz="1733" b="1">
                  <a:solidFill>
                    <a:srgbClr val="2C92D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4</a:t>
              </a:r>
            </a:p>
          </p:txBody>
        </p:sp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E4B3018E-0ADE-1671-7A56-1AC910D09A9C}"/>
              </a:ext>
            </a:extLst>
          </p:cNvPr>
          <p:cNvGrpSpPr/>
          <p:nvPr/>
        </p:nvGrpSpPr>
        <p:grpSpPr>
          <a:xfrm>
            <a:off x="4445195" y="2663429"/>
            <a:ext cx="7133245" cy="619733"/>
            <a:chOff x="0" y="0"/>
            <a:chExt cx="2836643" cy="246446"/>
          </a:xfrm>
        </p:grpSpPr>
        <p:sp>
          <p:nvSpPr>
            <p:cNvPr id="336" name="Freeform 29">
              <a:extLst>
                <a:ext uri="{FF2B5EF4-FFF2-40B4-BE49-F238E27FC236}">
                  <a16:creationId xmlns:a16="http://schemas.microsoft.com/office/drawing/2014/main" id="{32AF3B49-97D2-ED4B-E139-F0354C763B8E}"/>
                </a:ext>
              </a:extLst>
            </p:cNvPr>
            <p:cNvSpPr/>
            <p:nvPr/>
          </p:nvSpPr>
          <p:spPr>
            <a:xfrm>
              <a:off x="0" y="0"/>
              <a:ext cx="2836643" cy="246446"/>
            </a:xfrm>
            <a:custGeom>
              <a:avLst/>
              <a:gdLst/>
              <a:ahLst/>
              <a:cxnLst/>
              <a:rect l="l" t="t" r="r" b="b"/>
              <a:pathLst>
                <a:path w="2836643" h="246446">
                  <a:moveTo>
                    <a:pt x="0" y="0"/>
                  </a:moveTo>
                  <a:lnTo>
                    <a:pt x="2836643" y="0"/>
                  </a:lnTo>
                  <a:lnTo>
                    <a:pt x="2836643" y="246446"/>
                  </a:lnTo>
                  <a:lnTo>
                    <a:pt x="0" y="246446"/>
                  </a:ln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2E40DD4D-CCE4-4401-0922-239D3EC0785B}"/>
                </a:ext>
              </a:extLst>
            </p:cNvPr>
            <p:cNvSpPr txBox="1"/>
            <p:nvPr/>
          </p:nvSpPr>
          <p:spPr>
            <a:xfrm>
              <a:off x="0" y="-9525"/>
              <a:ext cx="2836643" cy="255971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>
                  <a:solidFill>
                    <a:srgbClr val="FFFFFF"/>
                  </a:solidFill>
                  <a:latin typeface="Readex Pro" panose="020B0604020202020204" charset="-78"/>
                  <a:ea typeface="Aileron Bold"/>
                  <a:cs typeface="Readex Pro" panose="020B0604020202020204" charset="-78"/>
                  <a:sym typeface="Aileron Bold"/>
                </a:rPr>
                <a:t>                    MÔ TẢ HỆ THỐNG</a:t>
              </a:r>
            </a:p>
          </p:txBody>
        </p: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E11C394E-FF9A-0ACF-45A9-480DF2213C1C}"/>
              </a:ext>
            </a:extLst>
          </p:cNvPr>
          <p:cNvGrpSpPr/>
          <p:nvPr/>
        </p:nvGrpSpPr>
        <p:grpSpPr>
          <a:xfrm>
            <a:off x="4744897" y="2777729"/>
            <a:ext cx="416598" cy="416598"/>
            <a:chOff x="0" y="0"/>
            <a:chExt cx="812800" cy="812800"/>
          </a:xfrm>
        </p:grpSpPr>
        <p:sp>
          <p:nvSpPr>
            <p:cNvPr id="339" name="Freeform 32">
              <a:extLst>
                <a:ext uri="{FF2B5EF4-FFF2-40B4-BE49-F238E27FC236}">
                  <a16:creationId xmlns:a16="http://schemas.microsoft.com/office/drawing/2014/main" id="{54039E98-F4B8-A3C3-59C0-DF4F278D8FE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30209AAE-2920-C9AB-2B55-525B2155C72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27"/>
                </a:lnSpc>
              </a:pPr>
              <a:r>
                <a:rPr lang="en-US" sz="1733" b="1">
                  <a:solidFill>
                    <a:srgbClr val="13538A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</a:t>
              </a:r>
            </a:p>
          </p:txBody>
        </p: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D421349B-DEAB-B48C-2D87-81C612603CA1}"/>
              </a:ext>
            </a:extLst>
          </p:cNvPr>
          <p:cNvGrpSpPr/>
          <p:nvPr/>
        </p:nvGrpSpPr>
        <p:grpSpPr>
          <a:xfrm>
            <a:off x="4445195" y="3295862"/>
            <a:ext cx="7133245" cy="558377"/>
            <a:chOff x="0" y="0"/>
            <a:chExt cx="2836643" cy="222047"/>
          </a:xfrm>
        </p:grpSpPr>
        <p:sp>
          <p:nvSpPr>
            <p:cNvPr id="342" name="Freeform 35">
              <a:extLst>
                <a:ext uri="{FF2B5EF4-FFF2-40B4-BE49-F238E27FC236}">
                  <a16:creationId xmlns:a16="http://schemas.microsoft.com/office/drawing/2014/main" id="{70FEC2C4-99ED-B7BA-1B49-8B9D4C7E1DFC}"/>
                </a:ext>
              </a:extLst>
            </p:cNvPr>
            <p:cNvSpPr/>
            <p:nvPr/>
          </p:nvSpPr>
          <p:spPr>
            <a:xfrm>
              <a:off x="0" y="0"/>
              <a:ext cx="2836643" cy="222047"/>
            </a:xfrm>
            <a:custGeom>
              <a:avLst/>
              <a:gdLst/>
              <a:ahLst/>
              <a:cxnLst/>
              <a:rect l="l" t="t" r="r" b="b"/>
              <a:pathLst>
                <a:path w="2836643" h="222047">
                  <a:moveTo>
                    <a:pt x="0" y="0"/>
                  </a:moveTo>
                  <a:lnTo>
                    <a:pt x="2836643" y="0"/>
                  </a:lnTo>
                  <a:lnTo>
                    <a:pt x="2836643" y="222047"/>
                  </a:lnTo>
                  <a:lnTo>
                    <a:pt x="0" y="222047"/>
                  </a:lnTo>
                  <a:close/>
                </a:path>
              </a:pathLst>
            </a:custGeom>
            <a:solidFill>
              <a:srgbClr val="78DDE4"/>
            </a:solidFill>
          </p:spPr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4A7E224D-D7ED-CE32-9945-F97930093D69}"/>
                </a:ext>
              </a:extLst>
            </p:cNvPr>
            <p:cNvSpPr txBox="1"/>
            <p:nvPr/>
          </p:nvSpPr>
          <p:spPr>
            <a:xfrm>
              <a:off x="0" y="-9525"/>
              <a:ext cx="2836643" cy="231572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>
                  <a:solidFill>
                    <a:srgbClr val="FFFFFF"/>
                  </a:solidFill>
                  <a:latin typeface="Readex Pro" panose="020B0604020202020204" charset="-78"/>
                  <a:ea typeface="Aileron Bold"/>
                  <a:cs typeface="Readex Pro" panose="020B0604020202020204" charset="-78"/>
                  <a:sym typeface="Aileron Bold"/>
                </a:rPr>
                <a:t>                    GIẢI PHÁP CÔNG NGHỆ</a:t>
              </a:r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69FC43F4-B204-A1EE-532F-DBBB796A7BD0}"/>
              </a:ext>
            </a:extLst>
          </p:cNvPr>
          <p:cNvGrpSpPr/>
          <p:nvPr/>
        </p:nvGrpSpPr>
        <p:grpSpPr>
          <a:xfrm>
            <a:off x="4445195" y="3866938"/>
            <a:ext cx="7133245" cy="558377"/>
            <a:chOff x="0" y="0"/>
            <a:chExt cx="2836643" cy="222047"/>
          </a:xfrm>
        </p:grpSpPr>
        <p:sp>
          <p:nvSpPr>
            <p:cNvPr id="345" name="Freeform 38">
              <a:extLst>
                <a:ext uri="{FF2B5EF4-FFF2-40B4-BE49-F238E27FC236}">
                  <a16:creationId xmlns:a16="http://schemas.microsoft.com/office/drawing/2014/main" id="{B19D0707-FC84-EB42-ACB8-D5763478CE7E}"/>
                </a:ext>
              </a:extLst>
            </p:cNvPr>
            <p:cNvSpPr/>
            <p:nvPr/>
          </p:nvSpPr>
          <p:spPr>
            <a:xfrm>
              <a:off x="0" y="0"/>
              <a:ext cx="2836643" cy="222047"/>
            </a:xfrm>
            <a:custGeom>
              <a:avLst/>
              <a:gdLst/>
              <a:ahLst/>
              <a:cxnLst/>
              <a:rect l="l" t="t" r="r" b="b"/>
              <a:pathLst>
                <a:path w="2836643" h="222047">
                  <a:moveTo>
                    <a:pt x="0" y="0"/>
                  </a:moveTo>
                  <a:lnTo>
                    <a:pt x="2836643" y="0"/>
                  </a:lnTo>
                  <a:lnTo>
                    <a:pt x="2836643" y="222047"/>
                  </a:lnTo>
                  <a:lnTo>
                    <a:pt x="0" y="222047"/>
                  </a:lnTo>
                  <a:close/>
                </a:path>
              </a:pathLst>
            </a:custGeom>
            <a:solidFill>
              <a:srgbClr val="36D1D6"/>
            </a:solidFill>
          </p:spPr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EB84053-0732-0621-4F64-814D4EC9148D}"/>
                </a:ext>
              </a:extLst>
            </p:cNvPr>
            <p:cNvSpPr txBox="1"/>
            <p:nvPr/>
          </p:nvSpPr>
          <p:spPr>
            <a:xfrm>
              <a:off x="0" y="-9525"/>
              <a:ext cx="2836643" cy="231572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>
                  <a:solidFill>
                    <a:srgbClr val="FFFFFF"/>
                  </a:solidFill>
                  <a:latin typeface="Readex Pro" panose="020B0604020202020204" charset="-78"/>
                  <a:ea typeface="Aileron Bold"/>
                  <a:cs typeface="Readex Pro" panose="020B0604020202020204" charset="-78"/>
                  <a:sym typeface="Aileron Bold"/>
                </a:rPr>
                <a:t>                    GIẢI PHÁP THIẾT KẾ</a:t>
              </a:r>
            </a:p>
          </p:txBody>
        </p: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295A8E4D-3736-AC0F-3A8F-DDEB801718C3}"/>
              </a:ext>
            </a:extLst>
          </p:cNvPr>
          <p:cNvGrpSpPr/>
          <p:nvPr/>
        </p:nvGrpSpPr>
        <p:grpSpPr>
          <a:xfrm>
            <a:off x="4744897" y="3366751"/>
            <a:ext cx="416598" cy="416598"/>
            <a:chOff x="0" y="0"/>
            <a:chExt cx="812800" cy="812800"/>
          </a:xfrm>
        </p:grpSpPr>
        <p:sp>
          <p:nvSpPr>
            <p:cNvPr id="348" name="Freeform 41">
              <a:extLst>
                <a:ext uri="{FF2B5EF4-FFF2-40B4-BE49-F238E27FC236}">
                  <a16:creationId xmlns:a16="http://schemas.microsoft.com/office/drawing/2014/main" id="{FDE6C38E-F24B-693E-F355-4D66F25DAEC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F093C082-39FF-ACAC-72FF-FB078BCE9672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27"/>
                </a:lnSpc>
              </a:pPr>
              <a:r>
                <a:rPr lang="en-US" sz="1733">
                  <a:solidFill>
                    <a:srgbClr val="78DDE4"/>
                  </a:solidFill>
                  <a:latin typeface="Aileron"/>
                  <a:ea typeface="Aileron"/>
                  <a:cs typeface="Aileron"/>
                  <a:sym typeface="Aileron"/>
                </a:rPr>
                <a:t>6</a:t>
              </a: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451FA755-80D8-F5AC-1E71-7C7DCF96D96F}"/>
              </a:ext>
            </a:extLst>
          </p:cNvPr>
          <p:cNvGrpSpPr/>
          <p:nvPr/>
        </p:nvGrpSpPr>
        <p:grpSpPr>
          <a:xfrm>
            <a:off x="4744897" y="3968538"/>
            <a:ext cx="416598" cy="416598"/>
            <a:chOff x="0" y="0"/>
            <a:chExt cx="812800" cy="812800"/>
          </a:xfrm>
        </p:grpSpPr>
        <p:sp>
          <p:nvSpPr>
            <p:cNvPr id="351" name="Freeform 44">
              <a:extLst>
                <a:ext uri="{FF2B5EF4-FFF2-40B4-BE49-F238E27FC236}">
                  <a16:creationId xmlns:a16="http://schemas.microsoft.com/office/drawing/2014/main" id="{1E18FFB2-EA98-CF0B-A162-F84C7CAAF5C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DFBFA733-1B7F-6389-5CA6-3664132E633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27"/>
                </a:lnSpc>
              </a:pPr>
              <a:r>
                <a:rPr lang="en-US" sz="1733">
                  <a:solidFill>
                    <a:srgbClr val="78DDE4"/>
                  </a:solidFill>
                  <a:latin typeface="Aileron"/>
                  <a:ea typeface="Aileron"/>
                  <a:cs typeface="Aileron"/>
                  <a:sym typeface="Aileron"/>
                </a:rPr>
                <a:t>7</a:t>
              </a:r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45A7B05B-FF72-9071-A337-02346C03CA00}"/>
              </a:ext>
            </a:extLst>
          </p:cNvPr>
          <p:cNvGrpSpPr/>
          <p:nvPr/>
        </p:nvGrpSpPr>
        <p:grpSpPr>
          <a:xfrm>
            <a:off x="4445195" y="4438015"/>
            <a:ext cx="7133245" cy="566238"/>
            <a:chOff x="0" y="0"/>
            <a:chExt cx="2836643" cy="225173"/>
          </a:xfrm>
        </p:grpSpPr>
        <p:sp>
          <p:nvSpPr>
            <p:cNvPr id="354" name="Freeform 47">
              <a:extLst>
                <a:ext uri="{FF2B5EF4-FFF2-40B4-BE49-F238E27FC236}">
                  <a16:creationId xmlns:a16="http://schemas.microsoft.com/office/drawing/2014/main" id="{CB93FA31-E56A-C425-93A6-A930724C6F0B}"/>
                </a:ext>
              </a:extLst>
            </p:cNvPr>
            <p:cNvSpPr/>
            <p:nvPr/>
          </p:nvSpPr>
          <p:spPr>
            <a:xfrm>
              <a:off x="0" y="0"/>
              <a:ext cx="2836643" cy="225173"/>
            </a:xfrm>
            <a:custGeom>
              <a:avLst/>
              <a:gdLst/>
              <a:ahLst/>
              <a:cxnLst/>
              <a:rect l="l" t="t" r="r" b="b"/>
              <a:pathLst>
                <a:path w="2836643" h="225173">
                  <a:moveTo>
                    <a:pt x="0" y="0"/>
                  </a:moveTo>
                  <a:lnTo>
                    <a:pt x="2836643" y="0"/>
                  </a:lnTo>
                  <a:lnTo>
                    <a:pt x="2836643" y="225173"/>
                  </a:lnTo>
                  <a:lnTo>
                    <a:pt x="0" y="225173"/>
                  </a:ln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884E37C0-996B-02C8-8660-0CA850ACB530}"/>
                </a:ext>
              </a:extLst>
            </p:cNvPr>
            <p:cNvSpPr txBox="1"/>
            <p:nvPr/>
          </p:nvSpPr>
          <p:spPr>
            <a:xfrm>
              <a:off x="0" y="-9525"/>
              <a:ext cx="2836643" cy="234698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>
                  <a:solidFill>
                    <a:srgbClr val="FFFFFF"/>
                  </a:solidFill>
                  <a:latin typeface="Readex Pro" panose="020B0604020202020204" charset="-78"/>
                  <a:ea typeface="Aileron Bold"/>
                  <a:cs typeface="Readex Pro" panose="020B0604020202020204" charset="-78"/>
                  <a:sym typeface="Aileron Bold"/>
                </a:rPr>
                <a:t>                   KẾT QUẢ ĐẠT ĐƯỢC</a:t>
              </a:r>
            </a:p>
          </p:txBody>
        </p:sp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663287B6-F139-9020-B661-ED488B7EEDCC}"/>
              </a:ext>
            </a:extLst>
          </p:cNvPr>
          <p:cNvGrpSpPr/>
          <p:nvPr/>
        </p:nvGrpSpPr>
        <p:grpSpPr>
          <a:xfrm>
            <a:off x="4445195" y="5016953"/>
            <a:ext cx="7133245" cy="584434"/>
            <a:chOff x="0" y="0"/>
            <a:chExt cx="2836643" cy="232409"/>
          </a:xfrm>
        </p:grpSpPr>
        <p:sp>
          <p:nvSpPr>
            <p:cNvPr id="357" name="Freeform 50">
              <a:extLst>
                <a:ext uri="{FF2B5EF4-FFF2-40B4-BE49-F238E27FC236}">
                  <a16:creationId xmlns:a16="http://schemas.microsoft.com/office/drawing/2014/main" id="{914E1284-6808-2E8A-BE03-880D878ADB96}"/>
                </a:ext>
              </a:extLst>
            </p:cNvPr>
            <p:cNvSpPr/>
            <p:nvPr/>
          </p:nvSpPr>
          <p:spPr>
            <a:xfrm>
              <a:off x="0" y="0"/>
              <a:ext cx="2836643" cy="232409"/>
            </a:xfrm>
            <a:custGeom>
              <a:avLst/>
              <a:gdLst/>
              <a:ahLst/>
              <a:cxnLst/>
              <a:rect l="l" t="t" r="r" b="b"/>
              <a:pathLst>
                <a:path w="2836643" h="232409">
                  <a:moveTo>
                    <a:pt x="0" y="0"/>
                  </a:moveTo>
                  <a:lnTo>
                    <a:pt x="2836643" y="0"/>
                  </a:lnTo>
                  <a:lnTo>
                    <a:pt x="2836643" y="232409"/>
                  </a:lnTo>
                  <a:lnTo>
                    <a:pt x="0" y="232409"/>
                  </a:lnTo>
                  <a:close/>
                </a:path>
              </a:pathLst>
            </a:custGeom>
            <a:solidFill>
              <a:srgbClr val="2C92D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82061AA3-BF9C-540A-7C92-36099940F793}"/>
                </a:ext>
              </a:extLst>
            </p:cNvPr>
            <p:cNvSpPr txBox="1"/>
            <p:nvPr/>
          </p:nvSpPr>
          <p:spPr>
            <a:xfrm>
              <a:off x="0" y="-9525"/>
              <a:ext cx="2836643" cy="241934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 dirty="0">
                  <a:solidFill>
                    <a:srgbClr val="FFFFFF"/>
                  </a:solidFill>
                  <a:latin typeface="Readex Pro" panose="020B0604020202020204" charset="-78"/>
                  <a:ea typeface="Aileron Bold"/>
                  <a:cs typeface="Readex Pro" panose="020B0604020202020204" charset="-78"/>
                  <a:sym typeface="Aileron Bold"/>
                </a:rPr>
                <a:t>                   KẾT LUẬN, HẠN CHẾ VÀ HƯỚNG PHÁT TRIỂN</a:t>
              </a:r>
            </a:p>
          </p:txBody>
        </p:sp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F7821F59-64AD-95DE-8304-35D9423CB9F7}"/>
              </a:ext>
            </a:extLst>
          </p:cNvPr>
          <p:cNvGrpSpPr/>
          <p:nvPr/>
        </p:nvGrpSpPr>
        <p:grpSpPr>
          <a:xfrm>
            <a:off x="4744897" y="4512835"/>
            <a:ext cx="416598" cy="416598"/>
            <a:chOff x="0" y="0"/>
            <a:chExt cx="812800" cy="812800"/>
          </a:xfrm>
        </p:grpSpPr>
        <p:sp>
          <p:nvSpPr>
            <p:cNvPr id="360" name="Freeform 53">
              <a:extLst>
                <a:ext uri="{FF2B5EF4-FFF2-40B4-BE49-F238E27FC236}">
                  <a16:creationId xmlns:a16="http://schemas.microsoft.com/office/drawing/2014/main" id="{75B23DB9-C799-C460-8EAE-BDC007D46B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39491EFF-FB10-913B-193A-5EBFD55BA686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27"/>
                </a:lnSpc>
              </a:pPr>
              <a:r>
                <a:rPr lang="en-US" sz="1733" b="1">
                  <a:solidFill>
                    <a:srgbClr val="78DDE4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8</a:t>
              </a:r>
            </a:p>
          </p:txBody>
        </p:sp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11FB209D-21FC-35D1-8D67-79629654F4D9}"/>
              </a:ext>
            </a:extLst>
          </p:cNvPr>
          <p:cNvGrpSpPr/>
          <p:nvPr/>
        </p:nvGrpSpPr>
        <p:grpSpPr>
          <a:xfrm>
            <a:off x="4744897" y="5118553"/>
            <a:ext cx="416598" cy="416598"/>
            <a:chOff x="0" y="0"/>
            <a:chExt cx="812800" cy="812800"/>
          </a:xfrm>
        </p:grpSpPr>
        <p:sp>
          <p:nvSpPr>
            <p:cNvPr id="363" name="Freeform 56">
              <a:extLst>
                <a:ext uri="{FF2B5EF4-FFF2-40B4-BE49-F238E27FC236}">
                  <a16:creationId xmlns:a16="http://schemas.microsoft.com/office/drawing/2014/main" id="{6FD8AAE1-89B7-9088-208F-F1943D5F04A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45BDD947-54D1-BBC3-4E10-7E3B3510F57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27"/>
                </a:lnSpc>
              </a:pPr>
              <a:r>
                <a:rPr lang="en-US" sz="1733">
                  <a:solidFill>
                    <a:srgbClr val="2C92D5"/>
                  </a:solidFill>
                  <a:latin typeface="Aileron"/>
                  <a:ea typeface="Aileron"/>
                  <a:cs typeface="Aileron"/>
                  <a:sym typeface="Aileron"/>
                </a:rPr>
                <a:t>9</a:t>
              </a:r>
            </a:p>
          </p:txBody>
        </p:sp>
      </p:grpSp>
      <p:sp>
        <p:nvSpPr>
          <p:cNvPr id="365" name="Freeform 58">
            <a:extLst>
              <a:ext uri="{FF2B5EF4-FFF2-40B4-BE49-F238E27FC236}">
                <a16:creationId xmlns:a16="http://schemas.microsoft.com/office/drawing/2014/main" id="{E4BBE714-D666-16FC-02E8-8346426B666C}"/>
              </a:ext>
            </a:extLst>
          </p:cNvPr>
          <p:cNvSpPr/>
          <p:nvPr/>
        </p:nvSpPr>
        <p:spPr>
          <a:xfrm>
            <a:off x="1226756" y="338932"/>
            <a:ext cx="1849885" cy="1841663"/>
          </a:xfrm>
          <a:custGeom>
            <a:avLst/>
            <a:gdLst/>
            <a:ahLst/>
            <a:cxnLst/>
            <a:rect l="l" t="t" r="r" b="b"/>
            <a:pathLst>
              <a:path w="2774827" h="2762495">
                <a:moveTo>
                  <a:pt x="0" y="0"/>
                </a:moveTo>
                <a:lnTo>
                  <a:pt x="2774827" y="0"/>
                </a:lnTo>
                <a:lnTo>
                  <a:pt x="2774827" y="2762494"/>
                </a:lnTo>
                <a:lnTo>
                  <a:pt x="0" y="2762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EDEB6F8B-2E28-2957-6453-AC1DCCA57CC6}"/>
              </a:ext>
            </a:extLst>
          </p:cNvPr>
          <p:cNvGrpSpPr/>
          <p:nvPr/>
        </p:nvGrpSpPr>
        <p:grpSpPr>
          <a:xfrm>
            <a:off x="4445195" y="5639514"/>
            <a:ext cx="7133245" cy="584434"/>
            <a:chOff x="0" y="0"/>
            <a:chExt cx="2836643" cy="232409"/>
          </a:xfrm>
        </p:grpSpPr>
        <p:sp>
          <p:nvSpPr>
            <p:cNvPr id="367" name="Freeform 50">
              <a:extLst>
                <a:ext uri="{FF2B5EF4-FFF2-40B4-BE49-F238E27FC236}">
                  <a16:creationId xmlns:a16="http://schemas.microsoft.com/office/drawing/2014/main" id="{23654D9A-57F6-B056-2BFD-E9AF64DD5C7E}"/>
                </a:ext>
              </a:extLst>
            </p:cNvPr>
            <p:cNvSpPr/>
            <p:nvPr/>
          </p:nvSpPr>
          <p:spPr>
            <a:xfrm>
              <a:off x="0" y="0"/>
              <a:ext cx="2836643" cy="232409"/>
            </a:xfrm>
            <a:custGeom>
              <a:avLst/>
              <a:gdLst/>
              <a:ahLst/>
              <a:cxnLst/>
              <a:rect l="l" t="t" r="r" b="b"/>
              <a:pathLst>
                <a:path w="2836643" h="232409">
                  <a:moveTo>
                    <a:pt x="0" y="0"/>
                  </a:moveTo>
                  <a:lnTo>
                    <a:pt x="2836643" y="0"/>
                  </a:lnTo>
                  <a:lnTo>
                    <a:pt x="2836643" y="232409"/>
                  </a:lnTo>
                  <a:lnTo>
                    <a:pt x="0" y="232409"/>
                  </a:ln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B977C8DE-D50B-DC64-F44E-16CEFAEA0C39}"/>
                </a:ext>
              </a:extLst>
            </p:cNvPr>
            <p:cNvSpPr txBox="1"/>
            <p:nvPr/>
          </p:nvSpPr>
          <p:spPr>
            <a:xfrm>
              <a:off x="0" y="-9525"/>
              <a:ext cx="2836643" cy="241934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 dirty="0">
                  <a:solidFill>
                    <a:srgbClr val="FFFFFF"/>
                  </a:solidFill>
                  <a:latin typeface="Readex Pro" panose="020B0604020202020204" charset="-78"/>
                  <a:ea typeface="Aileron Bold"/>
                  <a:cs typeface="Readex Pro" panose="020B0604020202020204" charset="-78"/>
                  <a:sym typeface="Aileron Bold"/>
                </a:rPr>
                <a:t>                    TÀI LIỆU THAM KHẢO VÀ DEMO</a:t>
              </a:r>
            </a:p>
          </p:txBody>
        </p:sp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A6C85743-0AA0-31FF-5EBA-AE98ABB852AA}"/>
              </a:ext>
            </a:extLst>
          </p:cNvPr>
          <p:cNvGrpSpPr/>
          <p:nvPr/>
        </p:nvGrpSpPr>
        <p:grpSpPr>
          <a:xfrm>
            <a:off x="4744897" y="5741114"/>
            <a:ext cx="416598" cy="416598"/>
            <a:chOff x="0" y="0"/>
            <a:chExt cx="812800" cy="812800"/>
          </a:xfrm>
        </p:grpSpPr>
        <p:sp>
          <p:nvSpPr>
            <p:cNvPr id="370" name="Freeform 56">
              <a:extLst>
                <a:ext uri="{FF2B5EF4-FFF2-40B4-BE49-F238E27FC236}">
                  <a16:creationId xmlns:a16="http://schemas.microsoft.com/office/drawing/2014/main" id="{776E3971-7416-42A1-9D42-3D8B99A3B40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7AB50A9F-D31D-6D05-9C24-5AF99A31BDD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27"/>
                </a:lnSpc>
              </a:pPr>
              <a:r>
                <a:rPr lang="en-US" sz="1733">
                  <a:solidFill>
                    <a:srgbClr val="2C92D5"/>
                  </a:solidFill>
                  <a:latin typeface="Aileron"/>
                  <a:ea typeface="Aileron"/>
                  <a:cs typeface="Aileron"/>
                  <a:sym typeface="Aileron"/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613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C98C-59A6-490B-83BD-EE1E10A5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Giới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tài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3A4D-EB59-4245-BACF-15AE3A78B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2859" y="1174912"/>
            <a:ext cx="4863353" cy="4903300"/>
          </a:xfrm>
        </p:spPr>
        <p:txBody>
          <a:bodyPr>
            <a:normAutofit/>
          </a:bodyPr>
          <a:lstStyle/>
          <a:p>
            <a:pPr algn="l"/>
            <a:r>
              <a:rPr lang="vi-VN" dirty="0"/>
              <a:t>Xu hướng mua cà phê online tăng mạnh, nhiều quán chưa số hóa hiệu quả.</a:t>
            </a:r>
            <a:endParaRPr lang="en-US" dirty="0"/>
          </a:p>
          <a:p>
            <a:pPr algn="l"/>
            <a:br>
              <a:rPr lang="vi-VN" dirty="0"/>
            </a:br>
            <a:r>
              <a:rPr lang="vi-VN" dirty="0"/>
              <a:t>Khó đặt hàng, quản lý đơn, giao 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vi-VN" dirty="0"/>
              <a:t> 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vi-VN" dirty="0"/>
              <a:t>.</a:t>
            </a:r>
            <a:endParaRPr lang="en-US" dirty="0"/>
          </a:p>
          <a:p>
            <a:pPr algn="l"/>
            <a:br>
              <a:rPr lang="vi-VN" dirty="0"/>
            </a:br>
            <a:r>
              <a:rPr lang="vi-VN" dirty="0"/>
              <a:t>Hệ thống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quán</a:t>
            </a:r>
            <a:r>
              <a:rPr lang="en-US" dirty="0"/>
              <a:t> </a:t>
            </a:r>
            <a:r>
              <a:rPr lang="en-US" dirty="0" err="1"/>
              <a:t>cà</a:t>
            </a:r>
            <a:r>
              <a:rPr lang="en-US" dirty="0"/>
              <a:t> </a:t>
            </a:r>
            <a:r>
              <a:rPr lang="en-US" dirty="0" err="1"/>
              <a:t>phê</a:t>
            </a:r>
            <a:r>
              <a:rPr lang="en-US" dirty="0"/>
              <a:t> </a:t>
            </a:r>
            <a:r>
              <a:rPr lang="vi-VN" dirty="0"/>
              <a:t>hỗ trợ đặt hàng, theo dõi đơn &amp; doanh thu.</a:t>
            </a:r>
            <a:br>
              <a:rPr lang="vi-VN" dirty="0"/>
            </a:br>
            <a:r>
              <a:rPr lang="vi-VN" dirty="0"/>
              <a:t>Giải pháp đơn giản, tiết kiệm.</a:t>
            </a: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8330A080-203D-6F14-0C76-74EE1A7D5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23" y="1174912"/>
            <a:ext cx="5710518" cy="49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05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8C62B-94CF-23E2-9E79-0C53EBEA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0DFA0-2222-0FDD-7CE8-E398705B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Mục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tiêu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tài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8D27B-F3DE-FAF1-1BF3-73B020D75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74912"/>
            <a:ext cx="10538012" cy="49033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Đề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tài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“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Thiết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kế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và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phát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triển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hệ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thống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desktop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quản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lý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kinh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doanh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quán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cà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phê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”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hướng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đến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giải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quyết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các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vấn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đề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như</a:t>
            </a:r>
            <a:r>
              <a:rPr lang="en-US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: </a:t>
            </a:r>
          </a:p>
          <a:p>
            <a:pPr marL="342900" indent="-342900" algn="l">
              <a:buFontTx/>
              <a:buChar char="-"/>
            </a:pPr>
            <a:r>
              <a:rPr lang="vi-VN" dirty="0"/>
              <a:t>Phát triển hệ thống desktop với giao diện JavaFX, tích hợp RabbitMQ. </a:t>
            </a:r>
            <a:endParaRPr lang="en-US" dirty="0"/>
          </a:p>
          <a:p>
            <a:pPr marL="342900" indent="-342900" algn="l">
              <a:buFontTx/>
              <a:buChar char="-"/>
            </a:pPr>
            <a:r>
              <a:rPr lang="vi-VN" dirty="0"/>
              <a:t>Cho phép khách đặt cà phê trực tuyến, theo dõi đơn hàng, chat với admin khi cần hỗ trợ.</a:t>
            </a:r>
            <a:endParaRPr lang="en-US" dirty="0"/>
          </a:p>
          <a:p>
            <a:pPr marL="342900" indent="-342900" algn="l">
              <a:buFontTx/>
              <a:buChar char="-"/>
            </a:pPr>
            <a:r>
              <a:rPr lang="vi-VN" dirty="0"/>
              <a:t>Hỗ trợ quản lý giám sát đơn hàng, theo dõi doanh thu và giao tiếp với khách hàng.</a:t>
            </a:r>
          </a:p>
          <a:p>
            <a:pPr algn="l"/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862018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7D212-551C-AD12-7543-27507379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9D35C-E778-F657-A530-87A18537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Nội</a:t>
            </a:r>
            <a:r>
              <a:rPr lang="en-US" dirty="0">
                <a:solidFill>
                  <a:schemeClr val="tx1"/>
                </a:solidFill>
              </a:rPr>
              <a:t> dung </a:t>
            </a:r>
            <a:r>
              <a:rPr lang="en-US" dirty="0" err="1">
                <a:solidFill>
                  <a:schemeClr val="tx1"/>
                </a:solidFill>
              </a:rPr>
              <a:t>nghiên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cứu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C32C-6C1E-DE75-4E41-E1DFEF1E0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74912"/>
            <a:ext cx="10538012" cy="49033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Lý </a:t>
            </a:r>
            <a:r>
              <a:rPr lang="en-US" dirty="0" err="1"/>
              <a:t>thuyết</a:t>
            </a:r>
            <a:r>
              <a:rPr lang="en-US" dirty="0"/>
              <a:t>:</a:t>
            </a:r>
          </a:p>
          <a:p>
            <a:pPr marL="342900" indent="-342900" algn="l">
              <a:buFontTx/>
              <a:buChar char="-"/>
            </a:pP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Javafx</a:t>
            </a:r>
            <a:r>
              <a:rPr lang="en-US" dirty="0"/>
              <a:t>, RabbitMQ.</a:t>
            </a:r>
          </a:p>
          <a:p>
            <a:pPr algn="l"/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:</a:t>
            </a:r>
          </a:p>
          <a:p>
            <a:pPr marL="342900" indent="-342900" algn="l">
              <a:buFontTx/>
              <a:buChar char="-"/>
            </a:pPr>
            <a:r>
              <a:rPr lang="vi-VN" dirty="0"/>
              <a:t>Xây dựng dữ liệu cho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vi-VN" dirty="0"/>
              <a:t>.</a:t>
            </a:r>
            <a:r>
              <a:rPr lang="en-US" dirty="0"/>
              <a:t> </a:t>
            </a:r>
            <a:r>
              <a:rPr lang="vi-VN" dirty="0"/>
              <a:t>Kết nối MySQL để lưu trữ và truy vấn dữ liệu cho giao diện.</a:t>
            </a:r>
            <a:endParaRPr lang="en-US" dirty="0"/>
          </a:p>
          <a:p>
            <a:pPr marL="342900" indent="-342900" algn="l">
              <a:buFontTx/>
              <a:buChar char="-"/>
            </a:pP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.</a:t>
            </a:r>
          </a:p>
          <a:p>
            <a:pPr marL="342900" indent="-342900" algn="l">
              <a:buFontTx/>
              <a:buChar char="-"/>
            </a:pPr>
            <a:r>
              <a:rPr lang="vi-VN" dirty="0"/>
              <a:t>Tích hợp RabbitMQ, lưu lịch sử tin nhắn.</a:t>
            </a:r>
            <a:endParaRPr lang="en-US" dirty="0"/>
          </a:p>
          <a:p>
            <a:pPr marL="342900" indent="-342900" algn="l">
              <a:buFontTx/>
              <a:buChar char="-"/>
            </a:pPr>
            <a:r>
              <a:rPr lang="vi-VN" dirty="0"/>
              <a:t>Kiểm thử, sửa lỗi, tối ưu hiệu suất, đảm bảo hệ thống hoạt động ổn định.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715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C24F0-B907-34A0-9FFA-4CB0296E4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2B0B-6120-B88A-EEB2-F685D846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Kiến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trúc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tổng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C6018B-964C-5A33-5CBE-C36E920AA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46" y="1182173"/>
            <a:ext cx="10378508" cy="449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08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16BE8-E4EF-86A1-4EC9-FF50FC99F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3B334-2AFA-8847-FBC3-AE3F4B584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UseCase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quản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lý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102589-9188-8726-634B-3E89E89A9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23" y="1030942"/>
            <a:ext cx="9771529" cy="534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468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177C5-773A-1EE1-9C56-9237BA3BC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6596-3A6D-0FB8-2424-69F543BC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48235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UseCase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khách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hàng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345502-EB8F-FD19-C5F8-FA73F65DC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70" y="448235"/>
            <a:ext cx="9789460" cy="59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42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CE625-7E2F-D35A-09D8-A831CE7BD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10585-8A64-2B5A-77BC-3E03E4347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Mô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thống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7345F-9C7E-5B96-1F7C-B0D8E9794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996" y="1309382"/>
            <a:ext cx="2568388" cy="1899983"/>
          </a:xfrm>
          <a:solidFill>
            <a:srgbClr val="1F5C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:</a:t>
            </a:r>
          </a:p>
          <a:p>
            <a:pPr algn="ctr"/>
            <a:r>
              <a:rPr lang="en-US" sz="1800" dirty="0" err="1"/>
              <a:t>Đăng</a:t>
            </a:r>
            <a:r>
              <a:rPr lang="en-US" sz="1800" dirty="0"/>
              <a:t> </a:t>
            </a:r>
            <a:r>
              <a:rPr lang="en-US" sz="1800" dirty="0" err="1"/>
              <a:t>ký</a:t>
            </a:r>
            <a:r>
              <a:rPr lang="en-US" sz="1800" dirty="0"/>
              <a:t>, </a:t>
            </a:r>
            <a:r>
              <a:rPr lang="en-US" sz="1800" dirty="0" err="1"/>
              <a:t>đăng</a:t>
            </a:r>
            <a:r>
              <a:rPr lang="en-US" sz="1800" dirty="0"/>
              <a:t> </a:t>
            </a:r>
            <a:r>
              <a:rPr lang="en-US" sz="1800" dirty="0" err="1"/>
              <a:t>nhập</a:t>
            </a:r>
            <a:r>
              <a:rPr lang="en-US" sz="1800" dirty="0"/>
              <a:t>, </a:t>
            </a:r>
            <a:r>
              <a:rPr lang="en-US" sz="1800" dirty="0" err="1"/>
              <a:t>quản</a:t>
            </a:r>
            <a:r>
              <a:rPr lang="en-US" sz="1800" dirty="0"/>
              <a:t> </a:t>
            </a:r>
            <a:r>
              <a:rPr lang="en-US" sz="1800" dirty="0" err="1"/>
              <a:t>lý</a:t>
            </a:r>
            <a:r>
              <a:rPr lang="en-US" sz="1800" dirty="0"/>
              <a:t> </a:t>
            </a:r>
            <a:r>
              <a:rPr lang="en-US" sz="1800" dirty="0" err="1"/>
              <a:t>thông</a:t>
            </a:r>
            <a:r>
              <a:rPr lang="en-US" sz="1800" dirty="0"/>
              <a:t> tin </a:t>
            </a:r>
            <a:r>
              <a:rPr lang="en-US" sz="1800" dirty="0" err="1"/>
              <a:t>cá</a:t>
            </a:r>
            <a:r>
              <a:rPr lang="en-US" sz="1800" dirty="0"/>
              <a:t> </a:t>
            </a:r>
            <a:r>
              <a:rPr lang="en-US" sz="1800" dirty="0" err="1"/>
              <a:t>nhân</a:t>
            </a:r>
            <a:r>
              <a:rPr lang="en-US" sz="1800" dirty="0"/>
              <a:t>, </a:t>
            </a:r>
            <a:r>
              <a:rPr lang="en-US" sz="1800" dirty="0" err="1"/>
              <a:t>đổi</a:t>
            </a:r>
            <a:r>
              <a:rPr lang="en-US" sz="1800" dirty="0"/>
              <a:t> </a:t>
            </a:r>
            <a:r>
              <a:rPr lang="en-US" sz="1800" dirty="0" err="1"/>
              <a:t>mật</a:t>
            </a:r>
            <a:r>
              <a:rPr lang="en-US" sz="1800" dirty="0"/>
              <a:t> </a:t>
            </a:r>
            <a:r>
              <a:rPr lang="en-US" sz="1800" dirty="0" err="1"/>
              <a:t>khẩu</a:t>
            </a:r>
            <a:r>
              <a:rPr lang="en-US" sz="1800" dirty="0"/>
              <a:t>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738B8A9-5026-2DDD-8D3F-4323E63BFACE}"/>
              </a:ext>
            </a:extLst>
          </p:cNvPr>
          <p:cNvSpPr txBox="1">
            <a:spLocks/>
          </p:cNvSpPr>
          <p:nvPr/>
        </p:nvSpPr>
        <p:spPr>
          <a:xfrm>
            <a:off x="4744568" y="1309382"/>
            <a:ext cx="2631141" cy="1899983"/>
          </a:xfrm>
          <a:prstGeom prst="rect">
            <a:avLst/>
          </a:prstGeom>
          <a:solidFill>
            <a:srgbClr val="1F5C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FFFFFF"/>
                </a:solidFill>
              </a:rPr>
              <a:t>Chức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năng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quản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lý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sản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phẩm</a:t>
            </a:r>
            <a:r>
              <a:rPr lang="en-US" dirty="0">
                <a:solidFill>
                  <a:srgbClr val="FFFFFF"/>
                </a:solidFill>
              </a:rPr>
              <a:t>:</a:t>
            </a:r>
          </a:p>
          <a:p>
            <a:pPr algn="ctr"/>
            <a:r>
              <a:rPr lang="en-US" sz="1800" dirty="0" err="1">
                <a:solidFill>
                  <a:srgbClr val="FFFFFF"/>
                </a:solidFill>
              </a:rPr>
              <a:t>Thêm</a:t>
            </a:r>
            <a:r>
              <a:rPr lang="en-US" sz="1800" dirty="0">
                <a:solidFill>
                  <a:srgbClr val="FFFFFF"/>
                </a:solidFill>
              </a:rPr>
              <a:t>, </a:t>
            </a:r>
            <a:r>
              <a:rPr lang="en-US" sz="1800" dirty="0" err="1">
                <a:solidFill>
                  <a:srgbClr val="FFFFFF"/>
                </a:solidFill>
              </a:rPr>
              <a:t>sửa</a:t>
            </a:r>
            <a:r>
              <a:rPr lang="en-US" sz="1800" dirty="0">
                <a:solidFill>
                  <a:srgbClr val="FFFFFF"/>
                </a:solidFill>
              </a:rPr>
              <a:t>, </a:t>
            </a:r>
            <a:r>
              <a:rPr lang="en-US" sz="1800" dirty="0" err="1">
                <a:solidFill>
                  <a:srgbClr val="FFFFFF"/>
                </a:solidFill>
              </a:rPr>
              <a:t>kiểm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soát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trạng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thái</a:t>
            </a:r>
            <a:r>
              <a:rPr lang="en-US" sz="1800" dirty="0">
                <a:solidFill>
                  <a:srgbClr val="FFFFFF"/>
                </a:solidFill>
              </a:rPr>
              <a:t>, </a:t>
            </a:r>
            <a:r>
              <a:rPr lang="en-US" sz="1800" dirty="0" err="1">
                <a:solidFill>
                  <a:srgbClr val="FFFFFF"/>
                </a:solidFill>
              </a:rPr>
              <a:t>tìm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kiếm</a:t>
            </a:r>
            <a:r>
              <a:rPr lang="en-US" sz="1800" dirty="0">
                <a:solidFill>
                  <a:srgbClr val="FFFFFF"/>
                </a:solidFill>
              </a:rPr>
              <a:t>, </a:t>
            </a:r>
            <a:r>
              <a:rPr lang="en-US" sz="1800" dirty="0" err="1">
                <a:solidFill>
                  <a:srgbClr val="FFFFFF"/>
                </a:solidFill>
              </a:rPr>
              <a:t>lọc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sản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phẩm</a:t>
            </a:r>
            <a:r>
              <a:rPr lang="en-US" sz="18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536A401-EF62-F515-F52C-17D27A096BF5}"/>
              </a:ext>
            </a:extLst>
          </p:cNvPr>
          <p:cNvSpPr txBox="1">
            <a:spLocks/>
          </p:cNvSpPr>
          <p:nvPr/>
        </p:nvSpPr>
        <p:spPr>
          <a:xfrm>
            <a:off x="2426630" y="4007758"/>
            <a:ext cx="2631143" cy="2124101"/>
          </a:xfrm>
          <a:prstGeom prst="rect">
            <a:avLst/>
          </a:prstGeom>
          <a:solidFill>
            <a:srgbClr val="1F5C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chemeClr val="bg1"/>
                </a:solidFill>
              </a:rPr>
              <a:t>Chức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năng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quản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lý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đơn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hàng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Xem </a:t>
            </a:r>
            <a:r>
              <a:rPr lang="en-US" sz="1800" dirty="0" err="1">
                <a:solidFill>
                  <a:schemeClr val="bg1"/>
                </a:solidFill>
              </a:rPr>
              <a:t>lịch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sử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đơn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hàng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thêm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sửa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xóa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sản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phẩm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trong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giỏ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hàng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thanh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toán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C0A5BA0-E2D1-DBCB-85DE-360ECD8D7A6F}"/>
              </a:ext>
            </a:extLst>
          </p:cNvPr>
          <p:cNvSpPr txBox="1">
            <a:spLocks/>
          </p:cNvSpPr>
          <p:nvPr/>
        </p:nvSpPr>
        <p:spPr>
          <a:xfrm>
            <a:off x="6890491" y="4007758"/>
            <a:ext cx="2631143" cy="2124100"/>
          </a:xfrm>
          <a:prstGeom prst="rect">
            <a:avLst/>
          </a:prstGeom>
          <a:solidFill>
            <a:srgbClr val="1F5C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chemeClr val="bg1"/>
                </a:solidFill>
              </a:rPr>
              <a:t>Chức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năng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nhắn</a:t>
            </a:r>
            <a:r>
              <a:rPr lang="en-US" dirty="0">
                <a:solidFill>
                  <a:schemeClr val="bg1"/>
                </a:solidFill>
              </a:rPr>
              <a:t> tin:</a:t>
            </a: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Giao </a:t>
            </a:r>
            <a:r>
              <a:rPr lang="en-US" sz="1800" dirty="0" err="1">
                <a:solidFill>
                  <a:schemeClr val="bg1"/>
                </a:solidFill>
              </a:rPr>
              <a:t>tiếp</a:t>
            </a:r>
            <a:r>
              <a:rPr lang="en-US" sz="1800" dirty="0">
                <a:solidFill>
                  <a:schemeClr val="bg1"/>
                </a:solidFill>
              </a:rPr>
              <a:t> qua </a:t>
            </a:r>
            <a:r>
              <a:rPr lang="en-US" sz="1800" dirty="0" err="1">
                <a:solidFill>
                  <a:schemeClr val="bg1"/>
                </a:solidFill>
              </a:rPr>
              <a:t>lại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giữa</a:t>
            </a:r>
            <a:r>
              <a:rPr lang="en-US" sz="1800" dirty="0">
                <a:solidFill>
                  <a:schemeClr val="bg1"/>
                </a:solidFill>
              </a:rPr>
              <a:t> admin </a:t>
            </a:r>
            <a:r>
              <a:rPr lang="en-US" sz="1800" dirty="0" err="1">
                <a:solidFill>
                  <a:schemeClr val="bg1"/>
                </a:solidFill>
              </a:rPr>
              <a:t>và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khách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hàng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thông</a:t>
            </a:r>
            <a:r>
              <a:rPr lang="en-US" sz="1800" dirty="0">
                <a:solidFill>
                  <a:schemeClr val="bg1"/>
                </a:solidFill>
              </a:rPr>
              <a:t> qua tin </a:t>
            </a:r>
            <a:r>
              <a:rPr lang="en-US" sz="1800" dirty="0" err="1">
                <a:solidFill>
                  <a:schemeClr val="bg1"/>
                </a:solidFill>
              </a:rPr>
              <a:t>nhắn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6F42257-53DA-618C-9EC0-73D3F46007BD}"/>
              </a:ext>
            </a:extLst>
          </p:cNvPr>
          <p:cNvSpPr txBox="1">
            <a:spLocks/>
          </p:cNvSpPr>
          <p:nvPr/>
        </p:nvSpPr>
        <p:spPr>
          <a:xfrm>
            <a:off x="9396134" y="1332694"/>
            <a:ext cx="2631141" cy="1853357"/>
          </a:xfrm>
          <a:prstGeom prst="rect">
            <a:avLst/>
          </a:prstGeom>
          <a:solidFill>
            <a:srgbClr val="1F5C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chemeClr val="bg1"/>
                </a:solidFill>
              </a:rPr>
              <a:t>Chức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năng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thống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kê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en-US" sz="1800" dirty="0" err="1">
                <a:solidFill>
                  <a:schemeClr val="bg1"/>
                </a:solidFill>
              </a:rPr>
              <a:t>Thống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kê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doanh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thu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sản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phẩm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bán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chạy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theo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thời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gian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1713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A159A-0D70-FD09-11FA-DE897FE9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22C67-D544-98FD-E8FE-B2F0971C2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Giải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pháp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nghệ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00DA5B-F167-ECB8-3D46-B80C4DF50861}"/>
              </a:ext>
            </a:extLst>
          </p:cNvPr>
          <p:cNvSpPr txBox="1"/>
          <p:nvPr/>
        </p:nvSpPr>
        <p:spPr>
          <a:xfrm>
            <a:off x="2254623" y="1036519"/>
            <a:ext cx="82542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Readex Pro" panose="020B0604020202020204" charset="-78"/>
                <a:cs typeface="Readex Pro" panose="020B0604020202020204" charset="-78"/>
              </a:rPr>
              <a:t>JavaFX</a:t>
            </a:r>
          </a:p>
          <a:p>
            <a:endParaRPr lang="en-US" sz="2400" b="1" dirty="0">
              <a:latin typeface="Readex Pro" panose="020B0604020202020204" charset="-78"/>
              <a:cs typeface="Readex Pro" panose="020B0604020202020204" charset="-78"/>
            </a:endParaRPr>
          </a:p>
          <a:p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F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ramework giao diện người dùng hiện đại cho 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Java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H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ỗ trợ xây dựng giao diện đồ họa đẹp và 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tương tác tốt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,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tùy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chỉnh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giao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diện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linh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hoạt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Đa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nền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tảng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br>
              <a:rPr lang="vi-VN" sz="2400" dirty="0">
                <a:latin typeface="Readex Pro" panose="020B0604020202020204" charset="-78"/>
                <a:cs typeface="Readex Pro" panose="020B0604020202020204" charset="-78"/>
              </a:rPr>
            </a:b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=&gt; 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Phù hợp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với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lập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trình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giao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diện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ứng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dụng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	desktop.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A43022-B9A5-E652-7E32-027AD3B0580A}"/>
              </a:ext>
            </a:extLst>
          </p:cNvPr>
          <p:cNvSpPr txBox="1"/>
          <p:nvPr/>
        </p:nvSpPr>
        <p:spPr>
          <a:xfrm>
            <a:off x="1810872" y="1510426"/>
            <a:ext cx="19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E6117E-B7A6-7AD2-F8BD-F631876E2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998" y="1158635"/>
            <a:ext cx="725591" cy="11273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3FFB8B-6F57-415E-9D92-3A331B340D90}"/>
              </a:ext>
            </a:extLst>
          </p:cNvPr>
          <p:cNvSpPr txBox="1"/>
          <p:nvPr/>
        </p:nvSpPr>
        <p:spPr>
          <a:xfrm>
            <a:off x="1753881" y="15328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61473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908C-FF51-CCC5-7248-8D677DC89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5033-C223-19E4-A195-98112FF7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Giải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pháp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nghệ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C4BC62-75DF-D0E7-59A2-6ADD939EB126}"/>
              </a:ext>
            </a:extLst>
          </p:cNvPr>
          <p:cNvSpPr txBox="1"/>
          <p:nvPr/>
        </p:nvSpPr>
        <p:spPr>
          <a:xfrm>
            <a:off x="2254623" y="1036519"/>
            <a:ext cx="825423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Readex Pro" panose="020B0604020202020204" charset="-78"/>
                <a:cs typeface="Readex Pro" panose="020B0604020202020204" charset="-78"/>
              </a:rPr>
              <a:t>MySQL</a:t>
            </a:r>
          </a:p>
          <a:p>
            <a:endParaRPr lang="en-US" sz="2400" b="1" dirty="0">
              <a:latin typeface="Readex Pro" panose="020B0604020202020204" charset="-78"/>
              <a:cs typeface="Readex Pro" panose="020B0604020202020204" charset="-78"/>
            </a:endParaRPr>
          </a:p>
          <a:p>
            <a:r>
              <a:rPr lang="en-US" sz="2400" b="1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quản trị cơ sở dữ liệu mã nguồn mở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lvl="1"/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lvl="1"/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phpMyadmin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 để lưu trữ và quản lý dữ liệu. 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lvl="1"/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lvl="1"/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P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hổ biến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hỗ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trợ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nhiều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ngôn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ngữ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lập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trình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lvl="1"/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lvl="1"/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Khả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mở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rộng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cao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	</a:t>
            </a:r>
          </a:p>
          <a:p>
            <a:pPr lvl="1"/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lvl="1"/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Cộng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đồng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lớn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,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cung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cấp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nhiều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tài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nguyên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hỗ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	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trợ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kỹ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thuật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lvl="1"/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lvl="1"/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=&gt; Thích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hợp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làm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nơi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lưu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trữ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dữ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  <a:endParaRPr lang="vi-VN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lvl="1"/>
            <a:endParaRPr lang="en-US" sz="2400" dirty="0"/>
          </a:p>
          <a:p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E4E156-70D0-8A9E-2D47-C5CED7470C70}"/>
              </a:ext>
            </a:extLst>
          </p:cNvPr>
          <p:cNvSpPr txBox="1"/>
          <p:nvPr/>
        </p:nvSpPr>
        <p:spPr>
          <a:xfrm>
            <a:off x="1810872" y="1510426"/>
            <a:ext cx="19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FF058D-88F8-CB23-6FA6-A88A8C7C1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998" y="1158635"/>
            <a:ext cx="725591" cy="11273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851CBF-7573-B5E6-3563-F6C8DCC92CF3}"/>
              </a:ext>
            </a:extLst>
          </p:cNvPr>
          <p:cNvSpPr txBox="1"/>
          <p:nvPr/>
        </p:nvSpPr>
        <p:spPr>
          <a:xfrm>
            <a:off x="1753881" y="15328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83513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6B6CA-35C3-479C-E7A0-340E59E4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908B5-E78B-ACDC-4217-EBBA7250E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Giải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pháp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nghệ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37E1C-8A0A-1E65-B69A-967EBDDF7EF7}"/>
              </a:ext>
            </a:extLst>
          </p:cNvPr>
          <p:cNvSpPr txBox="1"/>
          <p:nvPr/>
        </p:nvSpPr>
        <p:spPr>
          <a:xfrm>
            <a:off x="2254623" y="1036519"/>
            <a:ext cx="825423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Readex Pro" panose="020B0604020202020204" charset="-78"/>
                <a:cs typeface="Readex Pro" panose="020B0604020202020204" charset="-78"/>
              </a:rPr>
              <a:t>RabbitMQ</a:t>
            </a:r>
          </a:p>
          <a:p>
            <a:endParaRPr lang="en-US" sz="2400" b="1" dirty="0">
              <a:latin typeface="Readex Pro" panose="020B0604020202020204" charset="-78"/>
              <a:cs typeface="Readex Pro" panose="020B0604020202020204" charset="-78"/>
            </a:endParaRPr>
          </a:p>
          <a:p>
            <a:r>
              <a:rPr lang="en-US" sz="2400" b="1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hàng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đợi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mã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nguồn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mở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lvl="1"/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Hỗ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trợ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giao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tiếp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bất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đồng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bộ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lvl="1"/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lvl="1"/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Xử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lý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nhiều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tác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vụ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đồng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thời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,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không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bị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gián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đoạn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lvl="1"/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</a:p>
          <a:p>
            <a:pPr lvl="1"/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Độ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tin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cậy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khả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phục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hồi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tốt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lvl="1"/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lvl="1"/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Hỗ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trợ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nhiều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ngôn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ngữ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lập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trình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.</a:t>
            </a:r>
          </a:p>
          <a:p>
            <a:pPr lvl="1"/>
            <a:endParaRPr lang="en-US" sz="2400" dirty="0">
              <a:solidFill>
                <a:srgbClr val="000000"/>
              </a:solidFill>
              <a:latin typeface="Readex Pro" panose="020B0604020202020204" charset="-78"/>
              <a:ea typeface="Be Vietnam Thin"/>
              <a:cs typeface="Readex Pro" panose="020B0604020202020204" charset="-78"/>
              <a:sym typeface="Be Vietnam Thin"/>
            </a:endParaRPr>
          </a:p>
          <a:p>
            <a:pPr lvl="1"/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	=&gt; Thích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hợp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cho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việc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gửi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nhận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tin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nhắn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cho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chức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	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năng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nhắn</a:t>
            </a:r>
            <a:r>
              <a:rPr lang="en-US" sz="2400">
                <a:solidFill>
                  <a:srgbClr val="000000"/>
                </a:solidFill>
                <a:latin typeface="Readex Pro" panose="020B0604020202020204" charset="-78"/>
                <a:ea typeface="Be Vietnam Thin"/>
                <a:cs typeface="Readex Pro" panose="020B0604020202020204" charset="-78"/>
                <a:sym typeface="Be Vietnam Thin"/>
              </a:rPr>
              <a:t> tin.</a:t>
            </a:r>
            <a:endParaRPr lang="en-US" sz="2400" dirty="0">
              <a:solidFill>
                <a:srgbClr val="000000"/>
              </a:solidFill>
              <a:latin typeface="Readex Pro" panose="020B0604020202020204" charset="-78"/>
              <a:ea typeface="Be Vietnam Thin"/>
              <a:cs typeface="Readex Pro" panose="020B0604020202020204" charset="-78"/>
              <a:sym typeface="Be Vietnam Thin"/>
            </a:endParaRPr>
          </a:p>
          <a:p>
            <a:pPr lvl="1"/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lvl="1"/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endParaRPr lang="vi-VN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lvl="1"/>
            <a:endParaRPr lang="en-US" sz="2400" dirty="0"/>
          </a:p>
          <a:p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E9DF0-8544-FFE6-7E10-5F6BFDFE26CC}"/>
              </a:ext>
            </a:extLst>
          </p:cNvPr>
          <p:cNvSpPr txBox="1"/>
          <p:nvPr/>
        </p:nvSpPr>
        <p:spPr>
          <a:xfrm>
            <a:off x="1810872" y="1510426"/>
            <a:ext cx="19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6F1DE0-738F-1C40-D42D-1730D4F35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998" y="1158635"/>
            <a:ext cx="725591" cy="11273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0666D2-C809-687E-48FA-448659B6853A}"/>
              </a:ext>
            </a:extLst>
          </p:cNvPr>
          <p:cNvSpPr txBox="1"/>
          <p:nvPr/>
        </p:nvSpPr>
        <p:spPr>
          <a:xfrm>
            <a:off x="1753881" y="15328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68169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85BD3-76E9-8F3E-4152-D338F6363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7C64-1107-5658-F577-27E583318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Giải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pháp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nghệ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2BB226-9C68-2033-5EAC-F148DE3EE08A}"/>
              </a:ext>
            </a:extLst>
          </p:cNvPr>
          <p:cNvSpPr txBox="1"/>
          <p:nvPr/>
        </p:nvSpPr>
        <p:spPr>
          <a:xfrm>
            <a:off x="2254623" y="1036519"/>
            <a:ext cx="82542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Readex Pro" panose="020B0604020202020204" charset="-78"/>
                <a:cs typeface="Readex Pro" panose="020B0604020202020204" charset="-78"/>
              </a:rPr>
              <a:t>Các </a:t>
            </a:r>
            <a:r>
              <a:rPr lang="en-US" sz="2400" b="1" dirty="0" err="1">
                <a:latin typeface="Readex Pro" panose="020B0604020202020204" charset="-78"/>
                <a:cs typeface="Readex Pro" panose="020B0604020202020204" charset="-78"/>
              </a:rPr>
              <a:t>công</a:t>
            </a:r>
            <a:r>
              <a:rPr lang="en-US" sz="24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b="1" dirty="0" err="1">
                <a:latin typeface="Readex Pro" panose="020B0604020202020204" charset="-78"/>
                <a:cs typeface="Readex Pro" panose="020B0604020202020204" charset="-78"/>
              </a:rPr>
              <a:t>nghệ</a:t>
            </a:r>
            <a:r>
              <a:rPr lang="en-US" sz="24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b="1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24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b="1" dirty="0" err="1">
                <a:latin typeface="Readex Pro" panose="020B0604020202020204" charset="-78"/>
                <a:cs typeface="Readex Pro" panose="020B0604020202020204" charset="-78"/>
              </a:rPr>
              <a:t>dịch</a:t>
            </a:r>
            <a:r>
              <a:rPr lang="en-US" sz="24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b="1" dirty="0" err="1">
                <a:latin typeface="Readex Pro" panose="020B0604020202020204" charset="-78"/>
                <a:cs typeface="Readex Pro" panose="020B0604020202020204" charset="-78"/>
              </a:rPr>
              <a:t>vụ</a:t>
            </a:r>
            <a:r>
              <a:rPr lang="en-US" sz="24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b="1" dirty="0" err="1">
                <a:latin typeface="Readex Pro" panose="020B0604020202020204" charset="-78"/>
                <a:cs typeface="Readex Pro" panose="020B0604020202020204" charset="-78"/>
              </a:rPr>
              <a:t>sử</a:t>
            </a:r>
            <a:r>
              <a:rPr lang="en-US" sz="24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b="1" dirty="0" err="1">
                <a:latin typeface="Readex Pro" panose="020B0604020202020204" charset="-78"/>
                <a:cs typeface="Readex Pro" panose="020B0604020202020204" charset="-78"/>
              </a:rPr>
              <a:t>dụng</a:t>
            </a:r>
            <a:r>
              <a:rPr lang="en-US" sz="24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b="1" dirty="0" err="1">
                <a:latin typeface="Readex Pro" panose="020B0604020202020204" charset="-78"/>
                <a:cs typeface="Readex Pro" panose="020B0604020202020204" charset="-78"/>
              </a:rPr>
              <a:t>khác</a:t>
            </a:r>
            <a:r>
              <a:rPr lang="en-US" sz="2400" b="1" dirty="0">
                <a:latin typeface="Readex Pro" panose="020B0604020202020204" charset="-78"/>
                <a:cs typeface="Readex Pro" panose="020B0604020202020204" charset="-78"/>
              </a:rPr>
              <a:t>:</a:t>
            </a:r>
          </a:p>
          <a:p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</a:p>
          <a:p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JavaMail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 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thư viện Java hỗ trợ gửi và nhận email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API provinces.open-api.vn: 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cung cấp dữ liệu địa 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chỉ 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3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cấp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Việt Nam trả về dưới dạng JSON.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endParaRPr lang="en-US" sz="2400" dirty="0">
              <a:effectLst/>
              <a:latin typeface="Readex Pro" panose="020B0604020202020204" charset="-78"/>
              <a:ea typeface="Calibri" panose="020F0502020204030204" pitchFamily="34" charset="0"/>
              <a:cs typeface="Readex Pro" panose="020B0604020202020204" charset="-78"/>
            </a:endParaRPr>
          </a:p>
          <a:p>
            <a:r>
              <a:rPr lang="en-US" sz="2400" dirty="0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	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Thư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viện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Gson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: 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chuyển đổi giữa JSON và đối 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	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tượng Java.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838A4-2BD3-74DA-F23F-26D4C50F9B8B}"/>
              </a:ext>
            </a:extLst>
          </p:cNvPr>
          <p:cNvSpPr txBox="1"/>
          <p:nvPr/>
        </p:nvSpPr>
        <p:spPr>
          <a:xfrm>
            <a:off x="1810872" y="1510426"/>
            <a:ext cx="19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31E8A8-E704-5F71-7970-18768A295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998" y="1158635"/>
            <a:ext cx="725591" cy="11273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405A7D-DDDD-D0C0-43D1-933DD51DA8B7}"/>
              </a:ext>
            </a:extLst>
          </p:cNvPr>
          <p:cNvSpPr txBox="1"/>
          <p:nvPr/>
        </p:nvSpPr>
        <p:spPr>
          <a:xfrm>
            <a:off x="1753881" y="15328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93145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1481B-C0EF-6310-2180-3FB7D9262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4AB97-EFE2-6A1B-107D-F287D7C5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Giải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pháp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thiết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kế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707FD-DF10-F8E5-41A0-031F7B78480E}"/>
              </a:ext>
            </a:extLst>
          </p:cNvPr>
          <p:cNvSpPr txBox="1"/>
          <p:nvPr/>
        </p:nvSpPr>
        <p:spPr>
          <a:xfrm>
            <a:off x="838200" y="1091950"/>
            <a:ext cx="1662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Sơ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đồ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lớp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FA900-D0F5-E637-E261-3C558A1F9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859" y="1091950"/>
            <a:ext cx="6545110" cy="509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70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D4071-FA94-2C56-9E43-8CF8D10E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EA4A6-C64F-28A2-0571-2A42FF28D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Giải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pháp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thiết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kế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F2E78F-8DFC-350A-77B9-636218BA4861}"/>
              </a:ext>
            </a:extLst>
          </p:cNvPr>
          <p:cNvSpPr txBox="1"/>
          <p:nvPr/>
        </p:nvSpPr>
        <p:spPr>
          <a:xfrm>
            <a:off x="838200" y="1091950"/>
            <a:ext cx="1958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Sơ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đồ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CDM: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DE5D35-3ADB-C910-CE3D-A1F0E6DED5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86" y="1553615"/>
            <a:ext cx="10858427" cy="467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88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245AC-332D-EF40-F883-191A4C15B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BEA8-5243-C529-DB35-A2D37613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Các </a:t>
            </a:r>
            <a:r>
              <a:rPr lang="en-US" dirty="0" err="1">
                <a:solidFill>
                  <a:schemeClr val="tx1"/>
                </a:solidFill>
              </a:rPr>
              <a:t>chức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năng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2044B-A490-6A1E-F7E0-DFA8F78A26E5}"/>
              </a:ext>
            </a:extLst>
          </p:cNvPr>
          <p:cNvSpPr txBox="1"/>
          <p:nvPr/>
        </p:nvSpPr>
        <p:spPr>
          <a:xfrm>
            <a:off x="838199" y="1091950"/>
            <a:ext cx="10515599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Chức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nhập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 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đăng nhập để truy cập giao diện theo vai trò.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Chức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ký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 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nhập thông tin, nhận OTP qua email, xác thực và đăng ký tài khoản để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sử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dụng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hệ thống.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Chức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quên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mật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khẩu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 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nhận OTP qua email để xác minh và đặt lại mật khẩu mới.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Chức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đặt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lại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mật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khẩu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 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nhập và xác nhận mật khẩ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u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mới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Chức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tìm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sản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phẩm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Tìm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lọc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sản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phẩm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theo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tên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Chức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xem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đơn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đặt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hàng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cho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phép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xem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lại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thông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tin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đơn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đã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đặt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5168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CBF6A-1A56-2055-5E15-31E6682F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90055-8A17-086A-A7C6-BBCC24629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Các </a:t>
            </a:r>
            <a:r>
              <a:rPr lang="en-US" dirty="0" err="1">
                <a:solidFill>
                  <a:schemeClr val="tx1"/>
                </a:solidFill>
              </a:rPr>
              <a:t>chức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năng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3887AF-0FC7-6466-9487-0ED90CC6AB6E}"/>
              </a:ext>
            </a:extLst>
          </p:cNvPr>
          <p:cNvSpPr txBox="1"/>
          <p:nvPr/>
        </p:nvSpPr>
        <p:spPr>
          <a:xfrm>
            <a:off x="838199" y="1091950"/>
            <a:ext cx="10515599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Chức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thanh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toán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 k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hách hàng chọn sản phẩm trong giỏ hàng, điền thông tin và thanh toán, hệ thống xác nhận và gửi chi tiết đơn hàng qua email.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Chức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thêm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sản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phẩm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 q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uản lý thêm sản phẩm vào cơ sở dữ liệu, hệ thống kiểm tra thông tin, thông báo kết quả thêm thành công hoặc lỗi.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Chức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dừng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hoạt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động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sản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phẩm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quản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lý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dừng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trạng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thái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hoạt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động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của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sản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phẩm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,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kiểm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tra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thông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báo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kết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quả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dừng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thành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công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hoặc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lỗi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nếu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sản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phẩm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đã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dừng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hoạt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động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Chức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cập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nhật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thông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tin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sản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phẩm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quản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lý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cập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nhật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thông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tin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sản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phẩm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,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kiểm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tra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thông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báo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kết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quả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cập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nhật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thành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công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3711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6450A-F135-6347-FA8F-86D29B35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91E3-E777-417A-8FC8-5177FD803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Các </a:t>
            </a:r>
            <a:r>
              <a:rPr lang="en-US" dirty="0" err="1">
                <a:solidFill>
                  <a:schemeClr val="tx1"/>
                </a:solidFill>
              </a:rPr>
              <a:t>chức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năng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77158-C749-630B-2DEB-5F0AF3639D66}"/>
              </a:ext>
            </a:extLst>
          </p:cNvPr>
          <p:cNvSpPr txBox="1"/>
          <p:nvPr/>
        </p:nvSpPr>
        <p:spPr>
          <a:xfrm>
            <a:off x="838199" y="1091950"/>
            <a:ext cx="10515599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Chức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thêm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sản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phẩm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vào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giỏ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hàng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cho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phép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thêm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sản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phẩm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vào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giỏ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Chức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chat: 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hỗ trợ gửi thắc mắc, hiển thị thời gian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nhắn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và lưu lịch sử trò chuyện.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08511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48FFA-DAE8-523C-E855-7411BA5D0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C7AA7-5291-7106-9B27-0E0B80D07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07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đạt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D8876-D0DD-1E21-4442-9D03A9566D99}"/>
              </a:ext>
            </a:extLst>
          </p:cNvPr>
          <p:cNvSpPr txBox="1"/>
          <p:nvPr/>
        </p:nvSpPr>
        <p:spPr>
          <a:xfrm>
            <a:off x="838200" y="1132437"/>
            <a:ext cx="10515600" cy="5404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Về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công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nghệ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</a:t>
            </a:r>
          </a:p>
          <a:p>
            <a:pPr marL="734059" lvl="1" indent="-367030" algn="l">
              <a:lnSpc>
                <a:spcPts val="475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Biết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cách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để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xây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dựng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một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hệ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thống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hỗ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trợ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quản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lý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kinh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doanh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.</a:t>
            </a:r>
          </a:p>
          <a:p>
            <a:pPr marL="734059" lvl="1" indent="-367030" algn="l">
              <a:lnSpc>
                <a:spcPts val="475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Nắm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rõ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được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cách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lập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trình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giao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diện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cho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một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ứng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dụng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desktop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bằng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JavaFX.</a:t>
            </a:r>
          </a:p>
          <a:p>
            <a:pPr marL="734059" lvl="1" indent="-367030" algn="l">
              <a:lnSpc>
                <a:spcPts val="475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Biết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cách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kết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nối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,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truy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xuất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lưu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trữ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dữ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liệu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sử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dụng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mysql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bằng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ngôn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ngữ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Java.</a:t>
            </a:r>
          </a:p>
          <a:p>
            <a:pPr marL="734059" lvl="1" indent="-367030">
              <a:lnSpc>
                <a:spcPts val="4759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Biết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cách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sử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dụng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RabbitMQ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để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gửi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và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nhận</a:t>
            </a:r>
            <a:r>
              <a:rPr lang="en-US" sz="2400" dirty="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 tin </a:t>
            </a:r>
            <a:r>
              <a:rPr lang="en-US" sz="2400" dirty="0" err="1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nhắn</a:t>
            </a:r>
            <a:r>
              <a:rPr lang="en-US" sz="2400">
                <a:solidFill>
                  <a:srgbClr val="000000"/>
                </a:solidFill>
                <a:latin typeface="Readex Pro" panose="020B0604020202020204" charset="-78"/>
                <a:ea typeface="Noto Serif Display"/>
                <a:cs typeface="Readex Pro" panose="020B0604020202020204" charset="-78"/>
                <a:sym typeface="Noto Serif Display"/>
              </a:rPr>
              <a:t>.</a:t>
            </a:r>
            <a:endParaRPr lang="en-US" sz="2400" dirty="0">
              <a:solidFill>
                <a:srgbClr val="000000"/>
              </a:solidFill>
              <a:latin typeface="Readex Pro" panose="020B0604020202020204" charset="-78"/>
              <a:ea typeface="Noto Serif Display"/>
              <a:cs typeface="Readex Pro" panose="020B0604020202020204" charset="-78"/>
              <a:sym typeface="Noto Serif Display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effectLst/>
              <a:latin typeface="Readex Pro" panose="020B0604020202020204" charset="-78"/>
              <a:ea typeface="Calibri" panose="020F0502020204030204" pitchFamily="34" charset="0"/>
              <a:cs typeface="Readex Pro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38863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09DD3-318C-AA6F-8933-FC628C90F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C06F8-62FC-2801-E89E-8117E555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07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đạt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91831-1CD9-0195-1606-23E66DDD1D6B}"/>
              </a:ext>
            </a:extLst>
          </p:cNvPr>
          <p:cNvSpPr txBox="1"/>
          <p:nvPr/>
        </p:nvSpPr>
        <p:spPr>
          <a:xfrm>
            <a:off x="838200" y="1132437"/>
            <a:ext cx="105156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Về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H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oàn thiện đề tài “Thiết kế và phát triển hệ thống desktop quản lý quán cà phê”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G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iao diện trực quan, dễ sử dụng, hỗ trợ khách hàng, nhân viên và quản lý. 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Hệ thống gồm các chức năng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giúp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đáp ứng sát nhu cầu thực tế và giúp vận hành hiệu quả.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effectLst/>
              <a:latin typeface="Readex Pro" panose="020B0604020202020204" charset="-78"/>
              <a:ea typeface="Calibri" panose="020F0502020204030204" pitchFamily="34" charset="0"/>
              <a:cs typeface="Readex Pro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2043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8D09F-F822-5E6A-396B-CE652962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BE39D-AC9D-7816-9C02-D17634E33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07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đạt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D8ED4C-FF72-7269-B682-AF64CD8BE70F}"/>
              </a:ext>
            </a:extLst>
          </p:cNvPr>
          <p:cNvSpPr txBox="1"/>
          <p:nvPr/>
        </p:nvSpPr>
        <p:spPr>
          <a:xfrm>
            <a:off x="838200" y="1132437"/>
            <a:ext cx="105156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Về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: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H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oàn thiện đề tài “Thiết kế và phát triển hệ thống desktop quản lý quán cà phê”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G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iao diện trực quan, dễ sử dụng, hỗ trợ khách hàng, nhân viên và quản lý. 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Hệ thống gồm các chức năng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giúp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đáp ứng sát nhu cầu thực tế và giúp vận hành hiệu quả.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effectLst/>
              <a:latin typeface="Readex Pro" panose="020B0604020202020204" charset="-78"/>
              <a:ea typeface="Calibri" panose="020F0502020204030204" pitchFamily="34" charset="0"/>
              <a:cs typeface="Readex Pro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60010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98161-B06D-50AF-FFB3-50F9A5529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AE3C2-BD7C-B40E-C6F0-D6F90F0EC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07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Hạn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chế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4D2D2B-2624-C651-A326-2490734E2E6E}"/>
              </a:ext>
            </a:extLst>
          </p:cNvPr>
          <p:cNvSpPr txBox="1"/>
          <p:nvPr/>
        </p:nvSpPr>
        <p:spPr>
          <a:xfrm>
            <a:off x="838200" y="1132437"/>
            <a:ext cx="1051560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Chưa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thật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sự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hiểu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sâu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về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công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nghệ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,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còn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mất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nhiều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thời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gian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Chưa tích hợp thanh toán trực tuyến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C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hưa kiểm tra được tính hợp lệ của email.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Chưa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có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 chức năng giao hàng và theo dõi trạng thái đơn hàng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theo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thời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gian</a:t>
            </a:r>
            <a:r>
              <a:rPr lang="vi-VN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  <a:endParaRPr lang="en-US" sz="2400" dirty="0">
              <a:latin typeface="Readex Pro" panose="020B0604020202020204" charset="-78"/>
              <a:cs typeface="Readex Pro" panose="020B0604020202020204" charset="-78"/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Không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hỗ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trợ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định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vị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bản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đồ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,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gây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bất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tiện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cho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khách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khi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chọn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cửa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hàng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gần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nhất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effectLst/>
              <a:latin typeface="Readex Pro" panose="020B0604020202020204" charset="-78"/>
              <a:ea typeface="Calibri" panose="020F0502020204030204" pitchFamily="34" charset="0"/>
              <a:cs typeface="Readex Pro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14924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CE0E1-F4BD-B77E-E141-A4F30CD6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B5A6D-2C96-34C8-6040-371A17E97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07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Hướng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phát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triển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2FB411-B094-C6CA-CE0B-93DCF2C53912}"/>
              </a:ext>
            </a:extLst>
          </p:cNvPr>
          <p:cNvSpPr txBox="1"/>
          <p:nvPr/>
        </p:nvSpPr>
        <p:spPr>
          <a:xfrm>
            <a:off x="838200" y="1132437"/>
            <a:ext cx="10515600" cy="228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Phát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triển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tính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năng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xác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thực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email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thật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của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người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dùng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.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Tích</a:t>
            </a:r>
            <a:r>
              <a:rPr lang="en-US" sz="2400" dirty="0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hợp</a:t>
            </a:r>
            <a:r>
              <a:rPr lang="en-US" sz="2400" dirty="0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thêm</a:t>
            </a:r>
            <a:r>
              <a:rPr lang="en-US" sz="2400" dirty="0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tính</a:t>
            </a:r>
            <a:r>
              <a:rPr lang="en-US" sz="2400" dirty="0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năng</a:t>
            </a:r>
            <a:r>
              <a:rPr lang="en-US" sz="2400" dirty="0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thanh</a:t>
            </a:r>
            <a:r>
              <a:rPr lang="en-US" sz="2400" dirty="0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toán</a:t>
            </a:r>
            <a:r>
              <a:rPr lang="en-US" sz="2400" dirty="0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trực</a:t>
            </a:r>
            <a:r>
              <a:rPr lang="en-US" sz="2400" dirty="0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tuyến</a:t>
            </a:r>
            <a:r>
              <a:rPr lang="en-US" sz="2400" dirty="0"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.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Phát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triển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tính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năng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theo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dõi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đơn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hàng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theo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thời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gian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400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thực</a:t>
            </a:r>
            <a:r>
              <a:rPr lang="en-US" sz="24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.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Tích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hợp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Google Maps API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giúp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khách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hàng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dễ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dàng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định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400" dirty="0" err="1">
                <a:latin typeface="Readex Pro" panose="020B0604020202020204" charset="-78"/>
                <a:cs typeface="Readex Pro" panose="020B0604020202020204" charset="-78"/>
              </a:rPr>
              <a:t>vị</a:t>
            </a:r>
            <a:r>
              <a:rPr lang="en-US" sz="24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8448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00740-1D65-8F18-02D0-34CA8F0B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9895D-5DB3-4C85-03C2-DC86E6371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Tài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tham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khảo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0A5227-D1EB-C31B-FB96-11C73548A120}"/>
              </a:ext>
            </a:extLst>
          </p:cNvPr>
          <p:cNvSpPr txBox="1"/>
          <p:nvPr/>
        </p:nvSpPr>
        <p:spPr>
          <a:xfrm>
            <a:off x="838200" y="1366072"/>
            <a:ext cx="11013141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“RabbitMQ: One broker to queue them all | RabbitMQ.” </a:t>
            </a:r>
            <a:r>
              <a:rPr lang="en-US" sz="20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https://www.rabbitmq.com/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“JavaFX Tutorial.” </a:t>
            </a:r>
            <a:r>
              <a:rPr lang="en-US" sz="20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http://jenkov.com/tutorials/javafx/index.html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“JavaFX Documentation Project.” </a:t>
            </a:r>
            <a:r>
              <a:rPr lang="en-US" sz="20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https://fxdocs.github.io/docs/html5/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“Getting Started with JavaFX.” </a:t>
            </a:r>
            <a:r>
              <a:rPr lang="en-US" sz="20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https://openjfx.io/openjfx-docs/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“JDBC - </a:t>
            </a:r>
            <a:r>
              <a:rPr lang="en-US" sz="2000" b="1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Lập</a:t>
            </a: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000" b="1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trình</a:t>
            </a: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Java </a:t>
            </a:r>
            <a:r>
              <a:rPr lang="en-US" sz="2000" b="1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với</a:t>
            </a: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000" b="1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cơ</a:t>
            </a: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000" b="1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sở</a:t>
            </a: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000" b="1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dữ</a:t>
            </a: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000" b="1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liệu</a:t>
            </a: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.” </a:t>
            </a:r>
            <a:r>
              <a:rPr lang="en-US" sz="20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https://titv.vn/courses-page/lap-trinh-java-tuong-tac-csdl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“</a:t>
            </a:r>
            <a:r>
              <a:rPr lang="en-US" sz="2000" b="1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Lập</a:t>
            </a: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000" b="1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trình</a:t>
            </a: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JavaFX </a:t>
            </a:r>
            <a:r>
              <a:rPr lang="en-US" sz="2000" b="1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Cơ</a:t>
            </a: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</a:t>
            </a:r>
            <a:r>
              <a:rPr lang="en-US" sz="2000" b="1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bản</a:t>
            </a: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 | How </a:t>
            </a:r>
            <a:r>
              <a:rPr lang="en-US" sz="2000" b="1" dirty="0" err="1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Kteam</a:t>
            </a:r>
            <a:r>
              <a:rPr lang="en-US" sz="2000" b="1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.” </a:t>
            </a:r>
            <a:r>
              <a:rPr lang="en-US" sz="2000" dirty="0">
                <a:effectLst/>
                <a:latin typeface="Readex Pro" panose="020B0604020202020204" charset="-78"/>
                <a:ea typeface="Calibri" panose="020F0502020204030204" pitchFamily="34" charset="0"/>
                <a:cs typeface="Readex Pro" panose="020B0604020202020204" charset="-78"/>
              </a:rPr>
              <a:t>https://howkteam.vn/course/lap-trinh-javafx-co-ban-43</a:t>
            </a:r>
          </a:p>
          <a:p>
            <a:pPr>
              <a:buNone/>
            </a:pPr>
            <a:b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567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B9423-9E20-A63B-EB1C-D96B32A02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65357-F50B-55DF-5822-1EE4C2327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Demo </a:t>
            </a:r>
            <a:r>
              <a:rPr lang="en-US" dirty="0" err="1">
                <a:solidFill>
                  <a:schemeClr val="tx1"/>
                </a:solidFill>
              </a:rPr>
              <a:t>toàn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thống</a:t>
            </a:r>
            <a:r>
              <a:rPr lang="en-US" dirty="0">
                <a:solidFill>
                  <a:schemeClr val="tx1"/>
                </a:solidFill>
              </a:rPr>
              <a:t>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927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981F-8DDB-4942-9095-1A301A930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Xin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thầy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lắng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E8CBC-CC0F-41DD-9762-03FD26D3B0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64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4969</TotalTime>
  <Words>1636</Words>
  <Application>Microsoft Office PowerPoint</Application>
  <PresentationFormat>Widescreen</PresentationFormat>
  <Paragraphs>171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Barlow</vt:lpstr>
      <vt:lpstr>Aileron Bold</vt:lpstr>
      <vt:lpstr>Readex Pro</vt:lpstr>
      <vt:lpstr>Arial</vt:lpstr>
      <vt:lpstr>K2D</vt:lpstr>
      <vt:lpstr>Aileron</vt:lpstr>
      <vt:lpstr>Times New Roman</vt:lpstr>
      <vt:lpstr>Calibri</vt:lpstr>
      <vt:lpstr>Office Theme</vt:lpstr>
      <vt:lpstr>Trường Đại Học Cần Thơ</vt:lpstr>
      <vt:lpstr>PowerPoint Presentation</vt:lpstr>
      <vt:lpstr>Giới thiệu đề tài</vt:lpstr>
      <vt:lpstr>Mục tiêu đề tài</vt:lpstr>
      <vt:lpstr>Nội dung nghiên cứu:</vt:lpstr>
      <vt:lpstr>Kiến trúc tổng thể:</vt:lpstr>
      <vt:lpstr>UseCase quản lý</vt:lpstr>
      <vt:lpstr>UseCase khách hàng</vt:lpstr>
      <vt:lpstr>Mô tả hệ thống:</vt:lpstr>
      <vt:lpstr> Giải pháp công nghệ: </vt:lpstr>
      <vt:lpstr> Giải pháp công nghệ: </vt:lpstr>
      <vt:lpstr> Giải pháp công nghệ: </vt:lpstr>
      <vt:lpstr> Giải pháp công nghệ: </vt:lpstr>
      <vt:lpstr> Giải pháp thiết kế: </vt:lpstr>
      <vt:lpstr> Giải pháp thiết kế: </vt:lpstr>
      <vt:lpstr> Các chức năng: </vt:lpstr>
      <vt:lpstr> Các chức năng: </vt:lpstr>
      <vt:lpstr> Các chức năng: </vt:lpstr>
      <vt:lpstr> Kết quả đạt được: </vt:lpstr>
      <vt:lpstr> Kết quả đạt được: </vt:lpstr>
      <vt:lpstr> Kết quả đạt được: </vt:lpstr>
      <vt:lpstr> Hạn chế: </vt:lpstr>
      <vt:lpstr> Hướng phát triển: </vt:lpstr>
      <vt:lpstr> Tài liệu tham khảo: </vt:lpstr>
      <vt:lpstr> Demo toàn hệ thống: </vt:lpstr>
      <vt:lpstr>Xin chân thành cảm ơn thầy và các bạn đã lắng nghe !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Nguyễn Lâm Trường - B2204976</cp:lastModifiedBy>
  <cp:revision>243</cp:revision>
  <dcterms:created xsi:type="dcterms:W3CDTF">2022-07-01T08:15:51Z</dcterms:created>
  <dcterms:modified xsi:type="dcterms:W3CDTF">2025-04-19T01:59:01Z</dcterms:modified>
</cp:coreProperties>
</file>